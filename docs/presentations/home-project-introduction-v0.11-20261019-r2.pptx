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1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4c409a8934051" /><Relationship Type="http://schemas.openxmlformats.org/officeDocument/2006/relationships/extended-properties" Target="/docProps/app.xml" Id="R5a046cfb9b4d4dbf" /><Relationship Type="http://schemas.openxmlformats.org/officeDocument/2006/relationships/officeDocument" Target="/ppt/presentation.xml" Id="Ra643af29f9b34f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0ab3d65024807"/>
  </p:sldMasterIdLst>
  <p:notesMasterIdLst>
    <p:notesMasterId xmlns:r="http://schemas.openxmlformats.org/officeDocument/2006/relationships" r:id="Rc374a6d90aaa4300"/>
  </p:notesMasterIdLst>
  <p:sldIdLst>
    <p:sldId xmlns:r="http://schemas.openxmlformats.org/officeDocument/2006/relationships" id="256" r:id="R204b59a7165b4344"/>
    <p:sldId xmlns:r="http://schemas.openxmlformats.org/officeDocument/2006/relationships" id="257" r:id="Rb7a49b04d9bb4bec"/>
    <p:sldId xmlns:r="http://schemas.openxmlformats.org/officeDocument/2006/relationships" id="258" r:id="R5519750d84c849bb"/>
    <p:sldId xmlns:r="http://schemas.openxmlformats.org/officeDocument/2006/relationships" id="259" r:id="R314faf21be3e4983"/>
    <p:sldId xmlns:r="http://schemas.openxmlformats.org/officeDocument/2006/relationships" id="260" r:id="Rd79dcd82585d4c56"/>
    <p:sldId xmlns:r="http://schemas.openxmlformats.org/officeDocument/2006/relationships" id="261" r:id="Rbf65e16346614e4d"/>
    <p:sldId xmlns:r="http://schemas.openxmlformats.org/officeDocument/2006/relationships" id="262" r:id="R99b95bfb011d46b6"/>
    <p:sldId xmlns:r="http://schemas.openxmlformats.org/officeDocument/2006/relationships" id="263" r:id="Rcb213c00fc524796"/>
    <p:sldId xmlns:r="http://schemas.openxmlformats.org/officeDocument/2006/relationships" id="264" r:id="Rf0a514da8f604c0c"/>
    <p:sldId xmlns:r="http://schemas.openxmlformats.org/officeDocument/2006/relationships" id="265" r:id="R7fe72be889984b5c"/>
    <p:sldId xmlns:r="http://schemas.openxmlformats.org/officeDocument/2006/relationships" id="266" r:id="Ra4a690cbb0774cc7"/>
    <p:sldId xmlns:r="http://schemas.openxmlformats.org/officeDocument/2006/relationships" id="267" r:id="R94be7333203d4fc6"/>
    <p:sldId xmlns:r="http://schemas.openxmlformats.org/officeDocument/2006/relationships" id="268" r:id="Rc1cd7e06aa354c1e"/>
    <p:sldId xmlns:r="http://schemas.openxmlformats.org/officeDocument/2006/relationships" id="269" r:id="R4935ad5505214376"/>
    <p:sldId xmlns:r="http://schemas.openxmlformats.org/officeDocument/2006/relationships" id="270" r:id="R6985d14559d443be"/>
    <p:sldId xmlns:r="http://schemas.openxmlformats.org/officeDocument/2006/relationships" id="271" r:id="R92b6307c57854062"/>
    <p:sldId xmlns:r="http://schemas.openxmlformats.org/officeDocument/2006/relationships" id="272" r:id="R4e601d154f744aed"/>
    <p:sldId xmlns:r="http://schemas.openxmlformats.org/officeDocument/2006/relationships" id="273" r:id="Rc7ff6929b6f5442d"/>
    <p:sldId xmlns:r="http://schemas.openxmlformats.org/officeDocument/2006/relationships" id="274" r:id="R9d52caf05b5548d4"/>
    <p:sldId xmlns:r="http://schemas.openxmlformats.org/officeDocument/2006/relationships" id="275" r:id="Raabc695fa63047c0"/>
    <p:sldId xmlns:r="http://schemas.openxmlformats.org/officeDocument/2006/relationships" id="276" r:id="R8ca465bc9f2e481a"/>
    <p:sldId xmlns:r="http://schemas.openxmlformats.org/officeDocument/2006/relationships" id="277" r:id="R649caaf2b5474dcf"/>
    <p:sldId xmlns:r="http://schemas.openxmlformats.org/officeDocument/2006/relationships" id="278" r:id="Re6ffae535b1c4bf3"/>
    <p:sldId xmlns:r="http://schemas.openxmlformats.org/officeDocument/2006/relationships" id="279" r:id="R49ff88ed98fc4426"/>
    <p:sldId xmlns:r="http://schemas.openxmlformats.org/officeDocument/2006/relationships" id="280" r:id="Ra7e89067eb3f4a06"/>
    <p:sldId xmlns:r="http://schemas.openxmlformats.org/officeDocument/2006/relationships" id="281" r:id="R287e48ffdcd04369"/>
    <p:sldId xmlns:r="http://schemas.openxmlformats.org/officeDocument/2006/relationships" id="282" r:id="R84b56d32fdc04700"/>
    <p:sldId xmlns:r="http://schemas.openxmlformats.org/officeDocument/2006/relationships" id="283" r:id="R26a04e1f36c2417d"/>
    <p:sldId xmlns:r="http://schemas.openxmlformats.org/officeDocument/2006/relationships" id="284" r:id="Re518441be2c34e4e"/>
    <p:sldId xmlns:r="http://schemas.openxmlformats.org/officeDocument/2006/relationships" id="285" r:id="R1abfd97e60fa44e5"/>
    <p:sldId xmlns:r="http://schemas.openxmlformats.org/officeDocument/2006/relationships" id="286" r:id="R4f88dbba682a4b2b"/>
    <p:sldId xmlns:r="http://schemas.openxmlformats.org/officeDocument/2006/relationships" id="287" r:id="R938b4a3b766c41ea"/>
    <p:sldId xmlns:r="http://schemas.openxmlformats.org/officeDocument/2006/relationships" id="288" r:id="R9e79cbc873414ee3"/>
    <p:sldId xmlns:r="http://schemas.openxmlformats.org/officeDocument/2006/relationships" id="289" r:id="R3eb288eb8d0444b5"/>
    <p:sldId xmlns:r="http://schemas.openxmlformats.org/officeDocument/2006/relationships" id="290" r:id="Ra26b876e8aaf4b9d"/>
    <p:sldId xmlns:r="http://schemas.openxmlformats.org/officeDocument/2006/relationships" id="291" r:id="Rb758600943d64ee3"/>
    <p:sldId xmlns:r="http://schemas.openxmlformats.org/officeDocument/2006/relationships" id="292" r:id="Rcf4b54f08ee24a9d"/>
    <p:sldId xmlns:r="http://schemas.openxmlformats.org/officeDocument/2006/relationships" id="293" r:id="Rede5e564f8fe4437"/>
    <p:sldId xmlns:r="http://schemas.openxmlformats.org/officeDocument/2006/relationships" id="294" r:id="Rec03338af05d4ede"/>
    <p:sldId xmlns:r="http://schemas.openxmlformats.org/officeDocument/2006/relationships" id="295" r:id="Rafe9f56e21ca4825"/>
    <p:sldId xmlns:r="http://schemas.openxmlformats.org/officeDocument/2006/relationships" id="296" r:id="Rbcfbf133e94f442f"/>
    <p:sldId xmlns:r="http://schemas.openxmlformats.org/officeDocument/2006/relationships" id="297" r:id="Reee9d44ed079412e"/>
    <p:sldId xmlns:r="http://schemas.openxmlformats.org/officeDocument/2006/relationships" id="298" r:id="R68d137d5f4e2464d"/>
    <p:sldId xmlns:r="http://schemas.openxmlformats.org/officeDocument/2006/relationships" id="299" r:id="R916814e6f1904898"/>
    <p:sldId xmlns:r="http://schemas.openxmlformats.org/officeDocument/2006/relationships" id="300" r:id="Re1d4a0c44758417f"/>
    <p:sldId xmlns:r="http://schemas.openxmlformats.org/officeDocument/2006/relationships" id="301" r:id="Rd0683f34bcc94903"/>
    <p:sldId xmlns:r="http://schemas.openxmlformats.org/officeDocument/2006/relationships" id="302" r:id="R2203d86cc15b4eab"/>
    <p:sldId xmlns:r="http://schemas.openxmlformats.org/officeDocument/2006/relationships" id="303" r:id="R11fa0ea464f443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c292852c5b4ed7" /><Relationship Type="http://schemas.openxmlformats.org/officeDocument/2006/relationships/slideMaster" Target="/ppt/slideMasters/slideMaster1.xml" Id="R6e00ab3d65024807" /><Relationship Type="http://schemas.openxmlformats.org/officeDocument/2006/relationships/notesMaster" Target="/ppt/notesMasters/notesMaster1.xml" Id="Rc374a6d90aaa4300" /><Relationship Type="http://schemas.openxmlformats.org/officeDocument/2006/relationships/presProps" Target="/ppt/presProps.xml" Id="R28b8663730ae45b6" /><Relationship Type="http://schemas.openxmlformats.org/officeDocument/2006/relationships/tableStyles" Target="/ppt/tableStyles.xml" Id="Rb4c7def34f134dd1" /><Relationship Type="http://schemas.openxmlformats.org/officeDocument/2006/relationships/slide" Target="/ppt/slides/slide1.xml" Id="R204b59a7165b4344" /><Relationship Type="http://schemas.openxmlformats.org/officeDocument/2006/relationships/slide" Target="/ppt/slides/slide2.xml" Id="Rb7a49b04d9bb4bec" /><Relationship Type="http://schemas.openxmlformats.org/officeDocument/2006/relationships/slide" Target="/ppt/slides/slide3.xml" Id="R5519750d84c849bb" /><Relationship Type="http://schemas.openxmlformats.org/officeDocument/2006/relationships/slide" Target="/ppt/slides/slide4.xml" Id="R314faf21be3e4983" /><Relationship Type="http://schemas.openxmlformats.org/officeDocument/2006/relationships/slide" Target="/ppt/slides/slide5.xml" Id="Rd79dcd82585d4c56" /><Relationship Type="http://schemas.openxmlformats.org/officeDocument/2006/relationships/slide" Target="/ppt/slides/slide6.xml" Id="Rbf65e16346614e4d" /><Relationship Type="http://schemas.openxmlformats.org/officeDocument/2006/relationships/slide" Target="/ppt/slides/slide7.xml" Id="R99b95bfb011d46b6" /><Relationship Type="http://schemas.openxmlformats.org/officeDocument/2006/relationships/slide" Target="/ppt/slides/slide8.xml" Id="Rcb213c00fc524796" /><Relationship Type="http://schemas.openxmlformats.org/officeDocument/2006/relationships/slide" Target="/ppt/slides/slide9.xml" Id="Rf0a514da8f604c0c" /><Relationship Type="http://schemas.openxmlformats.org/officeDocument/2006/relationships/slide" Target="/ppt/slides/slide10.xml" Id="R7fe72be889984b5c" /><Relationship Type="http://schemas.openxmlformats.org/officeDocument/2006/relationships/slide" Target="/ppt/slides/slide11.xml" Id="Ra4a690cbb0774cc7" /><Relationship Type="http://schemas.openxmlformats.org/officeDocument/2006/relationships/slide" Target="/ppt/slides/slide12.xml" Id="R94be7333203d4fc6" /><Relationship Type="http://schemas.openxmlformats.org/officeDocument/2006/relationships/slide" Target="/ppt/slides/slide13.xml" Id="Rc1cd7e06aa354c1e" /><Relationship Type="http://schemas.openxmlformats.org/officeDocument/2006/relationships/slide" Target="/ppt/slides/slide14.xml" Id="R4935ad5505214376" /><Relationship Type="http://schemas.openxmlformats.org/officeDocument/2006/relationships/slide" Target="/ppt/slides/slide15.xml" Id="R6985d14559d443be" /><Relationship Type="http://schemas.openxmlformats.org/officeDocument/2006/relationships/slide" Target="/ppt/slides/slide16.xml" Id="R92b6307c57854062" /><Relationship Type="http://schemas.openxmlformats.org/officeDocument/2006/relationships/slide" Target="/ppt/slides/slide17.xml" Id="R4e601d154f744aed" /><Relationship Type="http://schemas.openxmlformats.org/officeDocument/2006/relationships/slide" Target="/ppt/slides/slide18.xml" Id="Rc7ff6929b6f5442d" /><Relationship Type="http://schemas.openxmlformats.org/officeDocument/2006/relationships/slide" Target="/ppt/slides/slide19.xml" Id="R9d52caf05b5548d4" /><Relationship Type="http://schemas.openxmlformats.org/officeDocument/2006/relationships/slide" Target="/ppt/slides/slide20.xml" Id="Raabc695fa63047c0" /><Relationship Type="http://schemas.openxmlformats.org/officeDocument/2006/relationships/slide" Target="/ppt/slides/slide21.xml" Id="R8ca465bc9f2e481a" /><Relationship Type="http://schemas.openxmlformats.org/officeDocument/2006/relationships/slide" Target="/ppt/slides/slide22.xml" Id="R649caaf2b5474dcf" /><Relationship Type="http://schemas.openxmlformats.org/officeDocument/2006/relationships/slide" Target="/ppt/slides/slide23.xml" Id="Re6ffae535b1c4bf3" /><Relationship Type="http://schemas.openxmlformats.org/officeDocument/2006/relationships/slide" Target="/ppt/slides/slide24.xml" Id="R49ff88ed98fc4426" /><Relationship Type="http://schemas.openxmlformats.org/officeDocument/2006/relationships/slide" Target="/ppt/slides/slide25.xml" Id="Ra7e89067eb3f4a06" /><Relationship Type="http://schemas.openxmlformats.org/officeDocument/2006/relationships/slide" Target="/ppt/slides/slide26.xml" Id="R287e48ffdcd04369" /><Relationship Type="http://schemas.openxmlformats.org/officeDocument/2006/relationships/slide" Target="/ppt/slides/slide27.xml" Id="R84b56d32fdc04700" /><Relationship Type="http://schemas.openxmlformats.org/officeDocument/2006/relationships/slide" Target="/ppt/slides/slide28.xml" Id="R26a04e1f36c2417d" /><Relationship Type="http://schemas.openxmlformats.org/officeDocument/2006/relationships/slide" Target="/ppt/slides/slide29.xml" Id="Re518441be2c34e4e" /><Relationship Type="http://schemas.openxmlformats.org/officeDocument/2006/relationships/slide" Target="/ppt/slides/slide30.xml" Id="R1abfd97e60fa44e5" /><Relationship Type="http://schemas.openxmlformats.org/officeDocument/2006/relationships/slide" Target="/ppt/slides/slide31.xml" Id="R4f88dbba682a4b2b" /><Relationship Type="http://schemas.openxmlformats.org/officeDocument/2006/relationships/slide" Target="/ppt/slides/slide32.xml" Id="R938b4a3b766c41ea" /><Relationship Type="http://schemas.openxmlformats.org/officeDocument/2006/relationships/slide" Target="/ppt/slides/slide33.xml" Id="R9e79cbc873414ee3" /><Relationship Type="http://schemas.openxmlformats.org/officeDocument/2006/relationships/slide" Target="/ppt/slides/slide34.xml" Id="R3eb288eb8d0444b5" /><Relationship Type="http://schemas.openxmlformats.org/officeDocument/2006/relationships/slide" Target="/ppt/slides/slide35.xml" Id="Ra26b876e8aaf4b9d" /><Relationship Type="http://schemas.openxmlformats.org/officeDocument/2006/relationships/slide" Target="/ppt/slides/slide36.xml" Id="Rb758600943d64ee3" /><Relationship Type="http://schemas.openxmlformats.org/officeDocument/2006/relationships/slide" Target="/ppt/slides/slide37.xml" Id="Rcf4b54f08ee24a9d" /><Relationship Type="http://schemas.openxmlformats.org/officeDocument/2006/relationships/slide" Target="/ppt/slides/slide38.xml" Id="Rede5e564f8fe4437" /><Relationship Type="http://schemas.openxmlformats.org/officeDocument/2006/relationships/slide" Target="/ppt/slides/slide39.xml" Id="Rec03338af05d4ede" /><Relationship Type="http://schemas.openxmlformats.org/officeDocument/2006/relationships/slide" Target="/ppt/slides/slide40.xml" Id="Rafe9f56e21ca4825" /><Relationship Type="http://schemas.openxmlformats.org/officeDocument/2006/relationships/slide" Target="/ppt/slides/slide41.xml" Id="Rbcfbf133e94f442f" /><Relationship Type="http://schemas.openxmlformats.org/officeDocument/2006/relationships/slide" Target="/ppt/slides/slide42.xml" Id="Reee9d44ed079412e" /><Relationship Type="http://schemas.openxmlformats.org/officeDocument/2006/relationships/slide" Target="/ppt/slides/slide43.xml" Id="R68d137d5f4e2464d" /><Relationship Type="http://schemas.openxmlformats.org/officeDocument/2006/relationships/slide" Target="/ppt/slides/slide44.xml" Id="R916814e6f1904898" /><Relationship Type="http://schemas.openxmlformats.org/officeDocument/2006/relationships/slide" Target="/ppt/slides/slide45.xml" Id="Re1d4a0c44758417f" /><Relationship Type="http://schemas.openxmlformats.org/officeDocument/2006/relationships/slide" Target="/ppt/slides/slide46.xml" Id="Rd0683f34bcc94903" /><Relationship Type="http://schemas.openxmlformats.org/officeDocument/2006/relationships/slide" Target="/ppt/slides/slide47.xml" Id="R2203d86cc15b4eab" /><Relationship Type="http://schemas.openxmlformats.org/officeDocument/2006/relationships/slide" Target="/ppt/slides/slide48.xml" Id="R11fa0ea464f443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aa578c28914b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fbcf64f17c4b92" /><Relationship Type="http://schemas.openxmlformats.org/officeDocument/2006/relationships/notesMaster" Target="/ppt/notesMasters/notesMaster1.xml" Id="Rbc857e6b10384c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b6d1155f6c49a3" /><Relationship Type="http://schemas.openxmlformats.org/officeDocument/2006/relationships/notesMaster" Target="/ppt/notesMasters/notesMaster1.xml" Id="Rb77ec7fcc94441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edb18064814dc8" /><Relationship Type="http://schemas.openxmlformats.org/officeDocument/2006/relationships/notesMaster" Target="/ppt/notesMasters/notesMaster1.xml" Id="R79a251c623cc48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30d96f0b34cc6" /><Relationship Type="http://schemas.openxmlformats.org/officeDocument/2006/relationships/notesMaster" Target="/ppt/notesMasters/notesMaster1.xml" Id="R4cb6bba738c34e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563e05fc8d4807" /><Relationship Type="http://schemas.openxmlformats.org/officeDocument/2006/relationships/notesMaster" Target="/ppt/notesMasters/notesMaster1.xml" Id="R88faf825ceba4c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3823944bd645c4" /><Relationship Type="http://schemas.openxmlformats.org/officeDocument/2006/relationships/notesMaster" Target="/ppt/notesMasters/notesMaster1.xml" Id="R620feb0c5dc943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079fbbeeb048f0" /><Relationship Type="http://schemas.openxmlformats.org/officeDocument/2006/relationships/notesMaster" Target="/ppt/notesMasters/notesMaster1.xml" Id="R2647574fb51046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02f1fb14bb47ca" /><Relationship Type="http://schemas.openxmlformats.org/officeDocument/2006/relationships/notesMaster" Target="/ppt/notesMasters/notesMaster1.xml" Id="R784579ce748c40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2d2956529447f4" /><Relationship Type="http://schemas.openxmlformats.org/officeDocument/2006/relationships/notesMaster" Target="/ppt/notesMasters/notesMaster1.xml" Id="Ra3772e6161a343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a48cab81a246de" /><Relationship Type="http://schemas.openxmlformats.org/officeDocument/2006/relationships/notesMaster" Target="/ppt/notesMasters/notesMaster1.xml" Id="R5e2645cc941a45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f48e91271c46bc" /><Relationship Type="http://schemas.openxmlformats.org/officeDocument/2006/relationships/notesMaster" Target="/ppt/notesMasters/notesMaster1.xml" Id="R62cb2c450de145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9966ffe6b745d7" /><Relationship Type="http://schemas.openxmlformats.org/officeDocument/2006/relationships/notesMaster" Target="/ppt/notesMasters/notesMaster1.xml" Id="R302269c9a9e04a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d14649fe65484a" /><Relationship Type="http://schemas.openxmlformats.org/officeDocument/2006/relationships/notesMaster" Target="/ppt/notesMasters/notesMaster1.xml" Id="R4234d3606b9647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7b7172ffe14ed3" /><Relationship Type="http://schemas.openxmlformats.org/officeDocument/2006/relationships/notesMaster" Target="/ppt/notesMasters/notesMaster1.xml" Id="Ra863813369da4c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41e13ab488425c" /><Relationship Type="http://schemas.openxmlformats.org/officeDocument/2006/relationships/notesMaster" Target="/ppt/notesMasters/notesMaster1.xml" Id="Ra30af2f1f3a045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eec5f410a54c41" /><Relationship Type="http://schemas.openxmlformats.org/officeDocument/2006/relationships/notesMaster" Target="/ppt/notesMasters/notesMaster1.xml" Id="Rd701dd5fec3f464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c5d514a8bb4af2" /><Relationship Type="http://schemas.openxmlformats.org/officeDocument/2006/relationships/notesMaster" Target="/ppt/notesMasters/notesMaster1.xml" Id="R3b3c3f32e9eb4d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ac1986d6454fad" /><Relationship Type="http://schemas.openxmlformats.org/officeDocument/2006/relationships/notesMaster" Target="/ppt/notesMasters/notesMaster1.xml" Id="Rbabf2817d02141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447d6727ec4c79" /><Relationship Type="http://schemas.openxmlformats.org/officeDocument/2006/relationships/notesMaster" Target="/ppt/notesMasters/notesMaster1.xml" Id="R8b88dedbfc5646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8b8b4f2c7b452b" /><Relationship Type="http://schemas.openxmlformats.org/officeDocument/2006/relationships/notesMaster" Target="/ppt/notesMasters/notesMaster1.xml" Id="R7c0165b45b394a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2085ac7ca504ba2" /><Relationship Type="http://schemas.openxmlformats.org/officeDocument/2006/relationships/notesMaster" Target="/ppt/notesMasters/notesMaster1.xml" Id="R4603fc24493b4fe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4285a46ef14f4d" /><Relationship Type="http://schemas.openxmlformats.org/officeDocument/2006/relationships/notesMaster" Target="/ppt/notesMasters/notesMaster1.xml" Id="Ra35e7fbafe6b42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dd89b8476504101" /><Relationship Type="http://schemas.openxmlformats.org/officeDocument/2006/relationships/notesMaster" Target="/ppt/notesMasters/notesMaster1.xml" Id="Rba698165735446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bb607cc3984083" /><Relationship Type="http://schemas.openxmlformats.org/officeDocument/2006/relationships/notesMaster" Target="/ppt/notesMasters/notesMaster1.xml" Id="R4f2f25a31ba8442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93790473b14e32" /><Relationship Type="http://schemas.openxmlformats.org/officeDocument/2006/relationships/notesMaster" Target="/ppt/notesMasters/notesMaster1.xml" Id="Rea55c7c22d7a4bd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4030a88cbed4e82" /><Relationship Type="http://schemas.openxmlformats.org/officeDocument/2006/relationships/notesMaster" Target="/ppt/notesMasters/notesMaster1.xml" Id="Ree68f60351dd42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bb51653b3e443bf" /><Relationship Type="http://schemas.openxmlformats.org/officeDocument/2006/relationships/notesMaster" Target="/ppt/notesMasters/notesMaster1.xml" Id="Re0e5c9038e8449a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a1f0d8db2d433d" /><Relationship Type="http://schemas.openxmlformats.org/officeDocument/2006/relationships/notesMaster" Target="/ppt/notesMasters/notesMaster1.xml" Id="R9663a51523184bf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e5863d41be649f6" /><Relationship Type="http://schemas.openxmlformats.org/officeDocument/2006/relationships/notesMaster" Target="/ppt/notesMasters/notesMaster1.xml" Id="R963ff7fd1fa842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4f4ae095d2e4f8d" /><Relationship Type="http://schemas.openxmlformats.org/officeDocument/2006/relationships/notesMaster" Target="/ppt/notesMasters/notesMaster1.xml" Id="R9f8751dd2a7f418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78aa2ed3fa64847" /><Relationship Type="http://schemas.openxmlformats.org/officeDocument/2006/relationships/notesMaster" Target="/ppt/notesMasters/notesMaster1.xml" Id="R03c04b9b5a1f438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7b10ed2734c4180" /><Relationship Type="http://schemas.openxmlformats.org/officeDocument/2006/relationships/notesMaster" Target="/ppt/notesMasters/notesMaster1.xml" Id="R5a3304891c4a420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c687ece6e8142b5" /><Relationship Type="http://schemas.openxmlformats.org/officeDocument/2006/relationships/notesMaster" Target="/ppt/notesMasters/notesMaster1.xml" Id="R9c038bc7b3b944b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b4f73a37af84928" /><Relationship Type="http://schemas.openxmlformats.org/officeDocument/2006/relationships/notesMaster" Target="/ppt/notesMasters/notesMaster1.xml" Id="Rfc2999b8a0e444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e2d87ef01a4695" /><Relationship Type="http://schemas.openxmlformats.org/officeDocument/2006/relationships/notesMaster" Target="/ppt/notesMasters/notesMaster1.xml" Id="R034d4fdc346447f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45cb11802224194" /><Relationship Type="http://schemas.openxmlformats.org/officeDocument/2006/relationships/notesMaster" Target="/ppt/notesMasters/notesMaster1.xml" Id="Radd1a1dbb1da481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5fdf60bd7ba4c5b" /><Relationship Type="http://schemas.openxmlformats.org/officeDocument/2006/relationships/notesMaster" Target="/ppt/notesMasters/notesMaster1.xml" Id="Ra1d35bf2572e409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9058d542f3b4d41" /><Relationship Type="http://schemas.openxmlformats.org/officeDocument/2006/relationships/notesMaster" Target="/ppt/notesMasters/notesMaster1.xml" Id="R509915e632b6478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b84c2b2c3d849bb" /><Relationship Type="http://schemas.openxmlformats.org/officeDocument/2006/relationships/notesMaster" Target="/ppt/notesMasters/notesMaster1.xml" Id="R97203af9c3b848d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5df0310625449d6" /><Relationship Type="http://schemas.openxmlformats.org/officeDocument/2006/relationships/notesMaster" Target="/ppt/notesMasters/notesMaster1.xml" Id="R730f33071d8042b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e50c7d5787f44de" /><Relationship Type="http://schemas.openxmlformats.org/officeDocument/2006/relationships/notesMaster" Target="/ppt/notesMasters/notesMaster1.xml" Id="Rb82f8aedef2f497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1ce02e3752345bb" /><Relationship Type="http://schemas.openxmlformats.org/officeDocument/2006/relationships/notesMaster" Target="/ppt/notesMasters/notesMaster1.xml" Id="R4ad08667b17f4a4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2667052a79948fe" /><Relationship Type="http://schemas.openxmlformats.org/officeDocument/2006/relationships/notesMaster" Target="/ppt/notesMasters/notesMaster1.xml" Id="R3bd1d2af3dbd447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047509afda148e4" /><Relationship Type="http://schemas.openxmlformats.org/officeDocument/2006/relationships/notesMaster" Target="/ppt/notesMasters/notesMaster1.xml" Id="R30785ba4535545d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ae54ffec68d47e6" /><Relationship Type="http://schemas.openxmlformats.org/officeDocument/2006/relationships/notesMaster" Target="/ppt/notesMasters/notesMaster1.xml" Id="R196321b5cd8447a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9a9748eeecd4edb" /><Relationship Type="http://schemas.openxmlformats.org/officeDocument/2006/relationships/notesMaster" Target="/ppt/notesMasters/notesMaster1.xml" Id="Rc5379de35f3a4ec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cc798e025384c2d" /><Relationship Type="http://schemas.openxmlformats.org/officeDocument/2006/relationships/notesMaster" Target="/ppt/notesMasters/notesMaster1.xml" Id="R3f7cf3cf9b8e4bd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6bfc04ea99a342d5" /><Relationship Type="http://schemas.openxmlformats.org/officeDocument/2006/relationships/notesMaster" Target="/ppt/notesMasters/notesMaster1.xml" Id="R39304f562806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 围绕人物组织近况、交流、承诺和资金往来，支持从今日跟进、准备沟通、记录实际结果到审阅记忆提案的完整流程。本次在原42页介绍基础上更新当前能力、界面与验证，保留完整架构和竞品定位。竞品公开资料沿用10月16日核对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资料依据（v0.11.0，代码 e6a3c6d，2026-10-19）：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docs/UI_WORKSPACE_V011.md</a:t>
            </a:r>
          </a:p>
          <a:p xmlns:a="http://schemas.openxmlformats.org/drawingml/2006/main">
            <a:r>
              <a:t>- demo/README.md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 是以人为索引的本地单用户关系助理。它把交流资料、人物近况、承诺和资金往来组织为可查询、确认和纠错的档案；0.11 的核心体验已连接今日跟进、沟通准备、实际结果、记忆提案与后续查询。研究、技能、项目和关系星图仍保留。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资料和附件保存在本机，但推理不是完全离线：抽取、生成和图片转写会将相关资料发送给配置的模型 API。当前没有多用户登录、IM 自动同步或代发消息。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当前依据（2026-10-19）：README.md:1、:5、:13、:65；app/api/main.py:37；docs/UI_WORKSPACE_V011.md:7。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问题与人群由当前功能推导，不能写成已完成用户访谈、市场验证或付费需求证明。共同点是需要跨较长时间维护多个联系人的背景与约定。建议后续选择少量实际用户观察其会前、会后和跟进工作，确认产品是否减少重复整理与遗漏。亲友场景也可能成立，但与业务联系人的频率、敏感程度和价值判断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README.md:3–5</a:t>
            </a:r>
          </a:p>
          <a:p xmlns:a="http://schemas.openxmlformats.org/drawingml/2006/main">
            <a:r>
              <a:t>- app/agent/prompts.py:3–23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已经实现的关系维护闭环。文字和导入资料进入核对与保存；今日事项可带入沟通目标，后台生成保留日期和来源的简报及草稿，用户编辑、复制并自行发送。只有用户确认实际沟通结果，系统才记录真实联系，同时按用户明确选择完成旧承诺、建立新约定及下次提醒。草稿和资料提及不会刷新联系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结果可以另行分析为人物近况或偏好提案。模型只提出候选，用户可修改内容和日期后确认，或忽略；确认前不改变档案，也不重复登记联系、承诺和账目。并非所有历史摄入记忆都经过逐条人工确认，对话中的明确记事也可能按原有规则直接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当前依据（2026-10-19）：README.md 的“沟通准备与实际联系”“今日跟进”“沟通后的记忆更新”；app/agent/followup.py:139、:239、:353；app/agent/outcome_memory.py:116、:244、:376；app/agent/agenda.py:245。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0.11 对导航重新分组，日常高频入口为今日跟进、对话、人物档案与记忆。待确认单独保留；“行动与记录”包含承诺与提醒、项目、往来账本、关系日志；“探索与工具”包含关系星图、深度研究、沟通技能与任务中心；设置与数据位于侧栏底部。表格按用途归纳，不能把每行理解为侧栏分组的逐字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关系星图没有删除，入口为“探索与工具→关系星图”，路由 #/atlas。记忆页包含已保存记忆和更新提案两个视图。手机底部保留四个日常入口，完整导航从菜单展开。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当前依据（2026-10-19）：web/index.html:42-63；docs/UI_WORKSPACE_V011.md:7、:28；README.md 的“功能与入口”。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图仍以人物档案为中心，但当前已具备独立的记忆查看与治理入口，以及沟通结果回流档案的闭环。记录入口包括对话、聊天导出和附件；核对包括身份、原始来源、字段历史与记忆纠错；关系背景包括项目、实际联系和关系星图；沟通更新包括准备、确认实际结果、单独分析以及审阅提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承诺、账本、技能、日志和研究仍是既有能力，并未因为本图突出核心闭环而删除。确认实际结果与确认记忆提案是两个不同操作，前者记录联系及明确约定，后者更新人物字段和记忆。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当前依据（2026-10-19）：docs/UI_WORKSPACE_V011.md:7-16；app/api/followups.py；app/api/outcome_memory.py；app/api/memories.py:130、:193；web/index.html:48-55。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跟进按配置时区和确定性规则组织事项，不调用模型排序。优先展示到期承诺和提醒，再展示等待回复至少三天、明确标记待跟进而未另设提醒的沟通，以及超过个人联系周期的人。承诺关联提醒合并，已完成、归档、被新安排替代的事项退出。没有真实联系记录的人单独展示，不计算为长期未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每项提供人物背景、原因、日期和来源；准备沟通带入具体目标。稍后、暂不跟进与恢复按事项来源版本保存，不会自动完成承诺或改变原提醒触发时间。人物联系周期默认 14 天，可设 1—365 天或关闭周期建议。0.11 只按已有 kind 分组并突出主操作，未改变后端排序规则。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当前依据（2026-10-19）：app/agent/agenda.py:49、:56、:107、:245、:291；migrations/007_agenda.sql；docs/UI_WORKSPACE_V011.md:11、:16；README.md 的“今日跟进”。截图采用 docs/assets/v011/today-desktop.jpg。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0.11 将人物长抽屉改为独立详情页。固定身份区提供人物背景、真实联系时间、准备沟通和联系周期。概览、沟通、记忆、历史四个页签分别组织当前资料、跟进结果、记忆提案及字段版本；账本和低频维护操作分区呈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详情路由为 #/persons/&lt;person_id&gt;，沟通、记忆、历史分别支持 ?tab=communication、?tab=memory、?tab=history。历史日期调用既有 at 接口，页签切换保留所选日期，但日期未写入 URL，不宣称日期筛选可深链。创建跟进、保存结果或处理提案后会刷新底层工作区，并保留当前页签和弹层；刷新失败提示保存已成功。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当前依据（2026-10-19）：docs/UI_WORKSPACE_V011.md:13、:20-34；web/person-workspace.js；web/person-workspace.css。截图采用 docs/assets/v011/person-desktop.jpg。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0.11已经交付的手机布局。底部保留四个高频入口，完整导航和历史会话分别展开，面板互斥。人物四个页签可键盘操作，支持深链。320、390、800、1024和1440宽度核心页面均无文档横向溢出。验证范围是本轮浏览器与现有自动测试，不等于所有设备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资料依据（v0.11.0，代码 e6a3c6d，2026-10-19）：</a:t>
            </a:r>
          </a:p>
          <a:p xmlns:a="http://schemas.openxmlformats.org/drawingml/2006/main">
            <a:r>
              <a:t>- docs/UI_WORKSPACE_V011.md</a:t>
            </a:r>
          </a:p>
          <a:p xmlns:a="http://schemas.openxmlformats.org/drawingml/2006/main">
            <a:r>
              <a:t>- web/workspace.css</a:t>
            </a:r>
          </a:p>
          <a:p xmlns:a="http://schemas.openxmlformats.org/drawingml/2006/main">
            <a:r>
              <a:t>- web/person-workspace.js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上传和 URL 摄入通过统一入口进入持久任务。文件先规范化为文本或图片转写，再提取统一 patch。聊天导出使用专门模式，建议明确“自己”在导出中的名称，避免把对方的话记到用户身上。未指定时系统会推测并提示核对。当前上传上限为 50 MB，单轮文本上限 30,000 字。PDF 提取前 50 页文本层，不包含扫描 PDF 的逐页 OCR。网页只是 HTTP 正文抓取，无法完整处理登录页面或仅脚本渲染内容。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app/ingest/normalize.py:28–111</a:t>
            </a:r>
          </a:p>
          <a:p xmlns:a="http://schemas.openxmlformats.org/drawingml/2006/main">
            <a:r>
              <a:t>- app/api/workspace.py:65、151</a:t>
            </a:r>
          </a:p>
          <a:p xmlns:a="http://schemas.openxmlformats.org/drawingml/2006/main">
            <a:r>
              <a:t>- web/app.js:54、63</a:t>
            </a:r>
          </a:p>
          <a:p xmlns:a="http://schemas.openxmlformats.org/drawingml/2006/main">
            <a:r>
              <a:t>- README.md:99、174、368</a:t>
            </a:r>
          </a:p>
          <a:p xmlns:a="http://schemas.openxmlformats.org/drawingml/2006/main">
            <a:r>
              <a:t>- data/qa/mock-replay-20261013-162624/business-card.png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方为产品操作路径，身份核对只在归属存在歧义时出现，不能解读成每次导入都强制人工确认。下方截图来自已完成的名片摄入任务，真实展示新建人物夏初和公司、职位、城市、生日四个字段的保存回执。截图中的资料全部虚构。保存回执反映数据库状态，不代表原文真实或模型理解一定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2725b74）：</a:t>
            </a:r>
          </a:p>
          <a:p xmlns:a="http://schemas.openxmlformats.org/drawingml/2006/main">
            <a:r>
              <a:t>- app/ingest/normalize.py</a:t>
            </a:r>
          </a:p>
          <a:p xmlns:a="http://schemas.openxmlformats.org/drawingml/2006/main">
            <a:r>
              <a:t>- app/memory/apply.py</a:t>
            </a:r>
          </a:p>
          <a:p xmlns:a="http://schemas.openxmlformats.org/drawingml/2006/main">
            <a:r>
              <a:t>- app/memory/pending.py</a:t>
            </a:r>
          </a:p>
          <a:p xmlns:a="http://schemas.openxmlformats.org/drawingml/2006/main">
            <a:r>
              <a:t>- data/presentation-build-20261016/assets/ui-task-receipts.png</a:t>
            </a:r>
          </a:p>
          <a:p xmlns:a="http://schemas.openxmlformats.org/drawingml/2006/main">
            <a:r>
              <a:t>- demo/README.md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沟通简报保留资料快照及来源，用户编辑和复制草稿后自行发送。准备、复制和保存草稿均不代表发生联系。确认实际结果才更新联系时间，并在同一事务中处理用户明确选择的承诺与提醒。重复请求幂等，结果分析是独立操作，分析候选不能自动改档案。截图来自虚构演示人物已保存的跟进及处理历史，未新增真实模型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资料依据（v0.11.0，代码 e6a3c6d，2026-10-19）：</a:t>
            </a:r>
          </a:p>
          <a:p xmlns:a="http://schemas.openxmlformats.org/drawingml/2006/main">
            <a:r>
              <a:t>- app/agent/followup.py</a:t>
            </a:r>
          </a:p>
          <a:p xmlns:a="http://schemas.openxmlformats.org/drawingml/2006/main">
            <a:r>
              <a:t>- app/api/followups.py</a:t>
            </a:r>
          </a:p>
          <a:p xmlns:a="http://schemas.openxmlformats.org/drawingml/2006/main">
            <a:r>
              <a:t>- app/agent/outcome_memory.py</a:t>
            </a:r>
          </a:p>
          <a:p xmlns:a="http://schemas.openxmlformats.org/drawingml/2006/main">
            <a:r>
              <a:t>- demo/README.md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待确认的主要作用是把模糊归属和不确定抽取显式交给用户。对于方向不明的账目，界面还提供“收到”“付出”选择。确认前不会把这类账目计入金额汇总。保存回执来自写入层，而不是模型口头宣称“已记住”。不过回执只说明数据库操作已经完成，并不证明理解正确，用户仍需核对来源与语义。来源片段确实出自原文，也不能证明原文真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app/memory/pending.py:11</a:t>
            </a:r>
          </a:p>
          <a:p xmlns:a="http://schemas.openxmlformats.org/drawingml/2006/main">
            <a:r>
              <a:t>- app/memory/apply.py:96–215</a:t>
            </a:r>
          </a:p>
          <a:p xmlns:a="http://schemas.openxmlformats.org/drawingml/2006/main">
            <a:r>
              <a:t>- app/agent/harness.py:104</a:t>
            </a:r>
          </a:p>
          <a:p xmlns:a="http://schemas.openxmlformats.org/drawingml/2006/main">
            <a:r>
              <a:t>- data/presentation-build-20261016/assets/ui-pending.png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入口为记忆的更新提案页签，也可从人物沟通结果中打开。结果分析生成字段或关系记忆候选，不自动入档。确认前核对来源、当前值、内容和建议日期，历史近况按业务时间插入。确认提案不重复记录实际联系、承诺或账目。当前快照没有待审阅提案，全部状态下可看五条已确认和一条已丢弃。截图为当前界面，未为本次更新新建分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资料依据（v0.11.0，代码 e6a3c6d，2026-10-19）：</a:t>
            </a:r>
          </a:p>
          <a:p xmlns:a="http://schemas.openxmlformats.org/drawingml/2006/main">
            <a:r>
              <a:t>- app/agent/outcome_memory.py</a:t>
            </a:r>
          </a:p>
          <a:p xmlns:a="http://schemas.openxmlformats.org/drawingml/2006/main">
            <a:r>
              <a:t>- app/api/outcome_memory.py</a:t>
            </a:r>
          </a:p>
          <a:p xmlns:a="http://schemas.openxmlformats.org/drawingml/2006/main">
            <a:r>
              <a:t>- app/memory/pending.py</a:t>
            </a:r>
          </a:p>
          <a:p xmlns:a="http://schemas.openxmlformats.org/drawingml/2006/main">
            <a:r>
              <a:t>- demo/README.md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忆页区分已保存记忆与更新提案，人物详情的记忆页签可进入该人的完整列表。已保存记忆支持人工修正内容、类型、日期和归属，以及撤销恢复，操作保留前后值与原因。原始来源不随用户编辑而改写。并发修订核对版本，请求幂等，已撤销记忆不进入有效查询。截图使用当前虚构演示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资料依据（v0.11.0，代码 e6a3c6d，2026-10-19）：</a:t>
            </a:r>
          </a:p>
          <a:p xmlns:a="http://schemas.openxmlformats.org/drawingml/2006/main">
            <a:r>
              <a:t>- app/api/memories.py</a:t>
            </a:r>
          </a:p>
          <a:p xmlns:a="http://schemas.openxmlformats.org/drawingml/2006/main">
            <a:r>
              <a:t>- app/memory/memory_corrections.py</a:t>
            </a:r>
          </a:p>
          <a:p xmlns:a="http://schemas.openxmlformats.org/drawingml/2006/main">
            <a:r>
              <a:t>- migrations/009_memory_corrections.sql</a:t>
            </a:r>
          </a:p>
          <a:p xmlns:a="http://schemas.openxmlformats.org/drawingml/2006/main">
            <a:r>
              <a:t>- docs/UI_WORKSPACE_V011.md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字段使用 valid_from、valid_to 记录业务时间，recorded_at 记录入库时间。旧消息补录可以插入历史时间线，避免旧城市覆盖新城市。纠错支持当前字段的修改、删除、转移和历史恢复，记录前后状态、原因与时间。字段提交使用版本、账目使用 revision 检查过期更新。人物合并保留快照和墓碑，代码提供按 merge_log 拆分能力。截图展示演示人物公司与职位的历史版本。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app/store/schema.sql:22</a:t>
            </a:r>
          </a:p>
          <a:p xmlns:a="http://schemas.openxmlformats.org/drawingml/2006/main">
            <a:r>
              <a:t>- app/store/repo.py:330</a:t>
            </a:r>
          </a:p>
          <a:p xmlns:a="http://schemas.openxmlformats.org/drawingml/2006/main">
            <a:r>
              <a:t>- app/memory/corrections.py:44–129</a:t>
            </a:r>
          </a:p>
          <a:p xmlns:a="http://schemas.openxmlformats.org/drawingml/2006/main">
            <a:r>
              <a:t>- app/memory/apply.py:385</a:t>
            </a:r>
          </a:p>
          <a:p xmlns:a="http://schemas.openxmlformats.org/drawingml/2006/main">
            <a:r>
              <a:t>- data/presentation-build-20261016/assets/ui-person-history.png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截图保留0.7来源核对功能的历史演示。来源分为回答当时快照、当前记录和原始证据，旧答案不会因人工纠错而改写。后续提问重新读取资料并生成本轮S编号，人物归档或记录撤销后不能继续假定来源有效。保存答案的事务内复查已读来源，变化时拒绝保存过期答案。来源存在和引用编号有效仍不证明模型语义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资料依据（v0.11.0，代码 e6a3c6d，2026-10-19）：</a:t>
            </a:r>
          </a:p>
          <a:p xmlns:a="http://schemas.openxmlformats.org/drawingml/2006/main">
            <a:r>
              <a:t>- app/api/message_sources.py</a:t>
            </a:r>
          </a:p>
          <a:p xmlns:a="http://schemas.openxmlformats.org/drawingml/2006/main">
            <a:r>
              <a:t>- app/agent/source_registry.py</a:t>
            </a:r>
          </a:p>
          <a:p xmlns:a="http://schemas.openxmlformats.org/drawingml/2006/main">
            <a:r>
              <a:t>- app/agent/harness.py</a:t>
            </a:r>
          </a:p>
          <a:p xmlns:a="http://schemas.openxmlformats.org/drawingml/2006/main">
            <a:r>
              <a:t>- docs/ANSWER_TRUST_V09.md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诺既可以从交流中抽取，也可以通过工具主动记录。模型后处理会过滤客套承诺，降低把一般意向误记为明确约定的风险。带到期日的承诺建立提醒，标记完成后关闭未触发提醒。提醒依赖服务进程运行，服务停止期间不会继续推理或通知。当前不能直接向外部联系人发消息，用户需要使用生成的沟通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app/memory/extract.py</a:t>
            </a:r>
          </a:p>
          <a:p xmlns:a="http://schemas.openxmlformats.org/drawingml/2006/main">
            <a:r>
              <a:t>- app/agent/tools.py</a:t>
            </a:r>
          </a:p>
          <a:p xmlns:a="http://schemas.openxmlformats.org/drawingml/2006/main">
            <a:r>
              <a:t>- app/jobs/scheduler.py:18</a:t>
            </a:r>
          </a:p>
          <a:p xmlns:a="http://schemas.openxmlformats.org/drawingml/2006/main">
            <a:r>
              <a:t>- README.md:41</a:t>
            </a:r>
          </a:p>
          <a:p xmlns:a="http://schemas.openxmlformats.org/drawingml/2006/main">
            <a:r>
              <a:t>- data/presentation-build-20261016/assets/ui-promises.png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账本围绕人与真实收付关系组织，当前不应包装为专业财务系统。写入层验证金额、方向和原文证据。待确认与撤销记录不会计入金额汇总。默认每页 100 条。账目纠错保留原始去重键，同一原文重放不会把旧账再次生成。截图中的金额完全由虚构测试数据构成，不代表交易规模。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app/memory/apply.py:215</a:t>
            </a:r>
          </a:p>
          <a:p xmlns:a="http://schemas.openxmlformats.org/drawingml/2006/main">
            <a:r>
              <a:t>- app/memory/corrections.py</a:t>
            </a:r>
          </a:p>
          <a:p xmlns:a="http://schemas.openxmlformats.org/drawingml/2006/main">
            <a:r>
              <a:t>- README.md:42、182</a:t>
            </a:r>
          </a:p>
          <a:p xmlns:a="http://schemas.openxmlformats.org/drawingml/2006/main">
            <a:r>
              <a:t>- data/presentation-build-20261016/assets/ui-ledger.png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项目页面用于把一组人物和对话放在同一事项下。实现中自动注入问答的项目内容是名称与说明，不能据 README 的宽泛描述宣称每次都会自动注入全部成员完整档案。成员资料可由人物检索工具读取。沟通技能是可编辑、导入导出的步骤与表达要求，用于复用沟通方法和生成草稿，不是可任意运行代码的插件系统。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app/agent/harness.py:146</a:t>
            </a:r>
          </a:p>
          <a:p xmlns:a="http://schemas.openxmlformats.org/drawingml/2006/main">
            <a:r>
              <a:t>- app/agent/tools.py</a:t>
            </a:r>
          </a:p>
          <a:p xmlns:a="http://schemas.openxmlformats.org/drawingml/2006/main">
            <a:r>
              <a:t>- migrations/002_workspace.sql</a:t>
            </a:r>
          </a:p>
          <a:p xmlns:a="http://schemas.openxmlformats.org/drawingml/2006/main">
            <a:r>
              <a:t>- README.md:43–44</a:t>
            </a:r>
          </a:p>
          <a:p xmlns:a="http://schemas.openxmlformats.org/drawingml/2006/main">
            <a:r>
              <a:t>- data/presentation-build-20261016/assets/ui-projects.png</a:t>
            </a:r>
          </a:p>
          <a:p xmlns:a="http://schemas.openxmlformats.org/drawingml/2006/main">
            <a:r>
              <a:t>- data/presentation-build-20261016/assets/ui-skills.png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关系星图没有删除。导航入口为“探索与工具”中的“关系星图”，路由 #/atlas。平面和立体投影、拖动旋转与点击人物仍保留。人物超过24位时默认平面。图只展示系统已有记录，不能当成已知全部真实人际关系。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资料依据（v0.11.0，代码 e6a3c6d，2026-10-19）：</a:t>
            </a:r>
          </a:p>
          <a:p xmlns:a="http://schemas.openxmlformats.org/drawingml/2006/main">
            <a:r>
              <a:t>- web/app.js:794</a:t>
            </a:r>
          </a:p>
          <a:p xmlns:a="http://schemas.openxmlformats.org/drawingml/2006/main">
            <a:r>
              <a:t>- web/index.html</a:t>
            </a:r>
          </a:p>
          <a:p xmlns:a="http://schemas.openxmlformats.org/drawingml/2006/main">
            <a:r>
              <a:t>- docs/UI_WORKSPACE_V011.md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一条虚构合作关系串起已实现流程。先记录张晨的公司和方案承诺，同名时核对人物；到期事项出现在今日跟进，来源和原因可查。用户带着具体目标准备沟通，查看已保存背景与未完成承诺，编辑、复制草稿并自行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沟通发生后，确认联系时间、渠道和实际内容，明确选择完成方案承诺、建立新约定或下次提醒。系统在同一事务中保存联系和后续安排，重复请求不重复写入。结果中的公司变化和沟通偏好可以单独分析为候选，核对原文、内容、当前档案和生效日期后确认；未确认提案不改档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当前依据（2026-10-19）：app/agent/followup.py:171、:239、:353-416；app/agent/agenda.py:107；app/agent/outcome_memory.py:244、:376-446；README.md 的“沟通后的记忆更新”。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本页比较文案保留原版，公开资料核对日期为 2026-10-16；本轮只更新 home 当前实现相关页，没有重新浏览 Mars 或 Muse，也没有验证竞品在 10 月 16 日之后的变化。Mars 与 Muse 的描述仍是公开定位对比，不代表完整登录体验或内部架构已核实。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home 的主线继续是以人物和关系背景为核心的本地工作台。当前已完成沟通准备、实际结果、记忆提案与来源核对；这些是本仓库独立实现，不作为复刻竞品未公开能力的证明。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原公开依据与原核对日期（2026-10-16）：https://marsdata.ai；https://introducing.muse.ai；旧版演示文稿保留的 Meta 官方产品与研究博客引用。当前 home 依据（2026-10-19）：README.md:5、:13；docs/UI_WORKSPACE_V011.md:7。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总体仍是一个本机单用户服务：原生 JS/CSS 前端、FastAPI HTTP/SSE 接口、本地最多三个工作线程、SQLite 与内容寻址附件，以及配置的模型网关。没有拆成微服务或引入独立向量数据库。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0.3—0.11 增加了今日跟进规则、沟通简报与实际结果、结果记忆提案和记忆纠错。当前对话编排包括人物范围与记忆焦点、查询/记事分类、受范围和写入许可约束的工具循环、来源快照注册、至多一次终稿修订，以及保存前来源变更核对。研究仍为专用编排，沟通结果及提案处理使用各自 API 和事务，不应画成全部经过通用 Agent 自动执行。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当前依据（2026-10-19）：README.md:381-415；app/agent/harness.py:151-356；app/jobs/tasks.py；app/api/followups.py；app/api/agenda.py；app/api/outcome_memory.py；app/api/memories.py；app/store/blob.py。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图中把实现按运行职责归并，不把每个文件或每次调用都展开。Web 通过 HTTP 和 SSE 连接 FastAPI，任务与事件持久化后由本地三线程池执行。摄入、对话和研究使用记忆层及模型 API，记忆层通过结构化查询、全文检索和档案卡提供上下文。SQLite 也存任务与事件，原始附件按 SHA-256 保存。可选 embedding 当前未启用。外部模型框位于本机边界之外，相关文本和图片会发送到网关。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2725b74）：</a:t>
            </a:r>
          </a:p>
          <a:p xmlns:a="http://schemas.openxmlformats.org/drawingml/2006/main">
            <a:r>
              <a:t>- app/api/main.py:23</a:t>
            </a:r>
          </a:p>
          <a:p xmlns:a="http://schemas.openxmlformats.org/drawingml/2006/main">
            <a:r>
              <a:t>- app/api/workspace.py:70、106</a:t>
            </a:r>
          </a:p>
          <a:p xmlns:a="http://schemas.openxmlformats.org/drawingml/2006/main">
            <a:r>
              <a:t>- app/jobs/tasks.py:12</a:t>
            </a:r>
          </a:p>
          <a:p xmlns:a="http://schemas.openxmlformats.org/drawingml/2006/main">
            <a:r>
              <a:t>- app/memory/apply.py:42</a:t>
            </a:r>
          </a:p>
          <a:p xmlns:a="http://schemas.openxmlformats.org/drawingml/2006/main">
            <a:r>
              <a:t>- app/memory/retrieve.py</a:t>
            </a:r>
          </a:p>
          <a:p xmlns:a="http://schemas.openxmlformats.org/drawingml/2006/main">
            <a:r>
              <a:t>- app/store/db.py:15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0.11补充：对话意图门控、人物范围、来源注册与保存前核对见 app/agent/harness.py；沟通及提案走专用API，仍使用同一SQLite。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本表是核心对象示意，并非完整数据库表清单。person、person_alias 与 person_field 保存人物身份及字段版本；interaction 通过 kind=note/contact 区分资料记录和实际联系，只有满足口径的 contact/participant 参与联系周期计算；memory_item 保存独立记忆及有效/撤销状态。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followup 与 followup_outcome 保存沟通目标、资料快照、草稿、实际结果和处理回执；contact_policy、agenda_action 保存联系周期及事项暂缓/忽略决定。outcome_memory_analysis 保存结果分析，提案沿用 pending_item，确认后写入字段或记忆。表中 correction 指 memory_correction，保存修改、撤销、恢复前后值及幂等请求。applied_patch 继续保存来源写入指纹，relation_edge 继续保存关系边。回答引用快照、人物范围、分类决定和修订审计保存在 message.tool_calls 的结构化元数据中，不能误画为新增独立引用表。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当前依据（2026-10-19）：app/store/schema.sql；migrations/005_interaction_kind.sql；migrations/006_followups.sql；migrations/007_agenda.sql；migrations/008_outcome_memory.sql；migrations/009_memory_corrections.sql；app/agent/harness.py:349-355。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当前对话不会把每条用户消息都当作新记忆。系统先持久保存 query、record、mixed 或 unknown 意图决定；query 和 unknown 只读，record/mixed 也只能把经严格校验、逐字连续且自包含的记事原文送去抽取。工具写入必须继续核对同一批准片段中的人物、内容、金额、日期和操作，不能把查询半句或别人的事实拼成写入许可。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获准记事的抽取候选进入结构校验、身份消歧、来源与置信度分档、事务及去重，返回成功、待确认、跳过或失败等实际结果。主要事实工具复用 apply 层；其他工具和导入入口有各自契约。资料提及保存为 note，不等于发生实际联系。沟通结果分析的提案另有人工确认流程，不能简单归入置信度自动入档。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当前依据（2026-10-19）：app/agent/harness.py:173-215；app/agent/turn_intent.py:114、:137、:250；app/agent/tools.py:418-442；app/memory/extract.py；app/memory/apply.py；app/agent/outcome_memory.py:376。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这张分支图仅覆盖获准进入抽取管线后的统一写入过程，不再代表完整聊天流程。对话须先经过意图及人物范围检查；纯查询或分类失败不会来到抽取输入。聊天、图片、文档和网页导入仍遵守各自摄入约束。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身份不明时整个人物补丁挂起，用户选择人物后重放。人物明确后，按字段、记忆、承诺、账目和关系各自规则校验来源、置信度与去重，可能保存、进入待确认或跳过；局部失败通过保存点隔离并以真实回执反馈。沟通结果提案不走自动置信度确认：用户核对后才更新字段或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当前依据（2026-10-19）：app/agent/harness.py:187-208；app/memory/apply.py；app/memory/pending.py；app/memory/disambiguate.py；app/agent/outcome_memory.py:376-446。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数值来自默认配置，可通过环境配置改变。唯一精确别名基础分为 0.9，但多个精确同名会因领先差不足而被拦截。disambiguate.py 的注释提到四路召回，实际 recall 主要遍历别名做精确、包含与编辑距离匹配。评分接口虽预留上下文、共现与向量参数，当前 apply 调用没有传入这些信息。字段与记忆置信度分档不能不加区别地推广到所有记录类型。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app/config.py:31–41</a:t>
            </a:r>
          </a:p>
          <a:p xmlns:a="http://schemas.openxmlformats.org/drawingml/2006/main">
            <a:r>
              <a:t>- app/memory/disambiguate.py:117</a:t>
            </a:r>
          </a:p>
          <a:p xmlns:a="http://schemas.openxmlformats.org/drawingml/2006/main">
            <a:r>
              <a:t>- app/memory/apply.py:96、124</a:t>
            </a:r>
          </a:p>
          <a:p xmlns:a="http://schemas.openxmlformats.org/drawingml/2006/main">
            <a:r>
              <a:t>- app/memory/pending.py:11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检索仍包括结构化查询、中文 FTS5 与可选向量。当前查询侧会清理标点和少量功能词，不改历史索引；先取精确全文匹配，在明确单人、人物集合或个人范围且结果不足时，再补充有界 OR 词项和中文子串。候选在截取前应用可见性与人物范围，避免先全库 top-k 再过滤。排序先比较精确全文、完整文本、向量、部分匹配等类型，再比较混合分数及时间，不能再简化为只有 0.6×向量＋0.4×全文。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向量配置仍可选，本轮没有启用 embedding，也没有向量效果结论。0.8 冻结虚构自然问法开发集的 10 个正召回场景，Recall@1/3/5 均为 0.70，MRR@5 为 0.80；同一评测器比较旧版分别为 0。该集禁用网络与向量，另有五个负例和一个字段历史场景。仍存在词面重合不足、部分饮食记忆漏召回，以及无会话范围时的同名背景缺口；69/70 确定性检查不是统一分母的检索准确率。0.7 的 18/18 生命周期用例与本集口径不同，不拼接为同一分数。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当前依据（2026-10-19）：app/memory/fts.py:33-50；app/memory/retrieve.py:113-199；docs/MEMORY_QUALITY_V08.md:7-12、:33-57；eval/fixtures/memory_questions_v08.json；eval/results/memory-quality-v08/retrieval-v08.json。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0.8 起人物范围成为持久化的本轮状态。系统识别显式人物和唯一背景，允许单人后的明确代词承接；新人物覆盖旧焦点，多人、同名或不明确指代先澄清。后端 get_person/query_memory 强制范围，工具读取顺序不能改变用户选择。这个范围是单用户产品内的防串人规则，不是多用户权限系统。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上下文在预算内加入人物档案卡、每人最多 12 个字段来源和 10 条语义/事件记忆、本人记忆，以及经人物范围过滤的近七天最多十条事件记忆。资料登记本轮来源快照与依赖；单条回答中的 S 编号不跨轮通用。历史约 24000 字符预算并保留最近 12 条，旧消息渐进摘要；重试旧问题截断到该问题，后续历史及受变更来源污染的摘要不得带回。预算不是模型总输入的严格 token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0.10 增加上一终稿记忆焦点：唯一记忆可重新读库并注册，多条须澄清；不支持任意代词的完整语义解析。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当前依据（2026-10-19）：app/agent/harness.py:34-137、:151-164、:218-246；app/agent/conversation_scope.py:117、:163；app/agent/memory_focus.py:127、:217；app/config.py:41。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当前仍有 16 个 function-calling 工具，最多十轮工具循环，没有通用终端、登录浏览器代操作或 IM 外发。查询包括人物、记忆、承诺、账目、技能与实际联系间隔；行动包括按许可保存事实和约定、完成承诺、准备研究提案等。工具数经当前 TOOLS 常量核对，并未因 UI 或记忆 API 增加而增加。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要变化是权限来自后端契约：读取须遵守本轮人物范围；写入须由持久化意图决定授权，参数须绑定同一逐字记事片段中的人物、内容、金额、日期或操作。查询或无法判断时拒绝写工具。模型返回“已保存”不能替代真实回执。工具结果进入来源注册与预算核对；生成后最多一次修订，引用和来源变更仍由服务器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当前依据（2026-10-19）：app/agent/tools.py 的 TOOLS 及 :418-442；app/agent/harness.py:253-307、:313-356；app/agent/turn_intent.py:250；app/agent/source_registry.py:101。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Agent 图应从“保存用户消息”开始，先确定并保存人物范围及记忆焦点，再执行查询/记事分类。query 与 unknown 保守只读；record 或 mixed 仅批准自包含、逐字连续原文片段进入抽取。抽取保存实际回执后，与只读分支汇合到本轮资料快照登记及截至该问题的会话历史。人物或记忆不明确则返回确定性澄清。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在最多十轮、十六个专用工具中调用。后端强制读取范围及同片段写入许可，工具结果注册本轮来源，预算外内容不得先登记为已给模型的资料。无工具后形成草稿，至多一次模型终稿修订；事实段引用本轮有效编号，建议和缺资料分开表达。严格日期问法有只读模板旁路，不调用分类、生成或修订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服务器最终验证引用编号及可见性，并在保存答案的同一事务中复查所有已读来源。来源变化拒绝保存旧答案；修订协议失败保留原稿并告警。持久化原稿、终稿、来源快照/依赖、意图、人物范围、记忆焦点、审计和真实回执。修订 completed 只说明协议完成，semantic_verified 始终 false；流式草稿也不等于已通过核对。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当前依据（2026-10-19）：app/agent/harness.py:151-246、:253-356；app/agent/turn_intent.py:114、:250；app/agent/tools.py:418；app/agent/memory_focus.py:238；app/agent/answer_review.py:214；app/agent/source_registry.py:95、:133、:154。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y与unknown只读，mixed只允许独立、逐字连续的记事原文片段写入，后端继续检查人物、内容、金额和日期。分类故障最多两次实际请求，并保存安全故障类别。明确重新分析会新增关联消息和任务，普通重试复用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0.10只对明确整句记忆日期问法走确定性旁路：唯一记忆重新读库并注册本轮来源，分别显示所标日期、首次录入和来自审计的人工编辑日期；没有审计则说未知。多条记忆先澄清。普通问法仍可能把日期角色说错，不能推广为所有日期和追问都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资料依据（v0.11.0，代码 e6a3c6d，2026-10-19）：</a:t>
            </a:r>
          </a:p>
          <a:p xmlns:a="http://schemas.openxmlformats.org/drawingml/2006/main">
            <a:r>
              <a:t>- app/agent/turn_intent.py</a:t>
            </a:r>
          </a:p>
          <a:p xmlns:a="http://schemas.openxmlformats.org/drawingml/2006/main">
            <a:r>
              <a:t>- app/agent/memory_focus.py</a:t>
            </a:r>
          </a:p>
          <a:p xmlns:a="http://schemas.openxmlformats.org/drawingml/2006/main">
            <a:r>
              <a:t>- app/jobs/chat_reanalysis.py</a:t>
            </a:r>
          </a:p>
          <a:p xmlns:a="http://schemas.openxmlformats.org/drawingml/2006/main">
            <a:r>
              <a:t>- docs/ANSWER_STABILITY_V010.md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研究使用 Bing HTML 搜索和 DuckDuckGo 备用，公开 URL 输入可限制同域资料。检索、阅读、结论复核和报告合成各有专门步骤。少于 3 条结论或 400 字标记 thin，不能把篇幅视为真实性保证。草稿按 scope 保存，重试可跳过已有范围。它不是通用多 Agent 协作平台，也没有稳定搜索 API 的服务承诺。当前演示库 research 表记录数为 0，最近一轮 10 月 13 日 QA 未执行研究，所以本页说明代码能力而非当轮验收结论。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app/agent/research.py:23、80、144、200、217、234、246</a:t>
            </a:r>
          </a:p>
          <a:p xmlns:a="http://schemas.openxmlformats.org/drawingml/2006/main">
            <a:r>
              <a:t>- README.md:194–209</a:t>
            </a:r>
          </a:p>
          <a:p xmlns:a="http://schemas.openxmlformats.org/drawingml/2006/main">
            <a:r>
              <a:t>- demo/home.db</a:t>
            </a:r>
          </a:p>
          <a:p xmlns:a="http://schemas.openxmlformats.org/drawingml/2006/main">
            <a:r>
              <a:t>- docs/MOCK_QA_20261013.md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 Agent 的研究工具先准备提案，并不直接开始全部研究。用户确认范围后，系统最多启动三个专用方向。每个方向检索和读取公开资料，结论携带 URL，随后按原文片段复核并合成报告。无可核验结论时返回资料不足。只有一到两条结论仍可形成报告，但会标记 thin，不能把可生成报告解读为资料充分或结论真实。草稿按 scope 保存，重试可跳过已有范围。HTTP 读取不包含登录后浏览器操作。演示库 research 表为零，本图说明代码实现。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2725b74）：</a:t>
            </a:r>
          </a:p>
          <a:p xmlns:a="http://schemas.openxmlformats.org/drawingml/2006/main">
            <a:r>
              <a:t>- app/agent/research.py:23、80、144、200、217、234、246</a:t>
            </a:r>
          </a:p>
          <a:p xmlns:a="http://schemas.openxmlformats.org/drawingml/2006/main">
            <a:r>
              <a:t>- app/agent/tools.py</a:t>
            </a:r>
          </a:p>
          <a:p xmlns:a="http://schemas.openxmlformats.org/drawingml/2006/main">
            <a:r>
              <a:t>- app/api/workspace.py</a:t>
            </a:r>
          </a:p>
          <a:p xmlns:a="http://schemas.openxmlformats.org/drawingml/2006/main">
            <a:r>
              <a:t>- demo/home.db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持久任务、结果、事件游标与取消标记保存在 SQLite，刷新后可读取已保存事件。取消到检查点才生效，之前提交的数据保留；重启后排队任务继续调度，执行中任务标记 interrupted，用户可明确重试。服务停止期间不继续推理或触发提醒，普通任务没有任意步骤自动续跑。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0.10 的普通重试复用已有分类决定，包括失败和损坏决定，避免随机重分类突然获得写入许可。用户明确选择“重新分析原消息”会新增关联消息和任务，保留旧回答与旧决定；同一原消息重复请求返回同一任务，原来已经有写入许可或应用记录的消息拒绝此入口。历史范围及相对日期锚定原消息，不被后续人物对话带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任务重试按状态、更新时间和事件序号原子检查，同会话活跃任务受唯一约束；已结束任务重新连接 SSE 后从旧游标继续。这些保证不是对外部工具任意副作用的通用回滚承诺。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当前依据（2026-10-19）：README.md:308-323；app/jobs/tasks.py；app/jobs/chat_reanalysis.py:11、:44、:73；docs/ANSWER_STABILITY_V010.md:9-19。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调度器随应用生命周期启动和停止。时区来自配置，默认 Asia/Shanghai。提醒每分钟扫描，日志每日 23:50，周反思在周日 23:00 运行。周反思调用模型，从近 7 天事件归纳少量相处经验。这些归纳应当理解为基于有限记录的建议，而不是已证实的人格判断。服务停止后没有常驻云执行环境，因此不能承诺离线继续运行或错过时点后一定自动补做。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app/jobs/scheduler.py:18、38、77、109</a:t>
            </a:r>
          </a:p>
          <a:p xmlns:a="http://schemas.openxmlformats.org/drawingml/2006/main">
            <a:r>
              <a:t>- app/config.py:28</a:t>
            </a:r>
          </a:p>
          <a:p xmlns:a="http://schemas.openxmlformats.org/drawingml/2006/main">
            <a:r>
              <a:t>- docs/MOCK_QA_20261013.md</a:t>
            </a:r>
          </a:p>
          <a:p xmlns:a="http://schemas.openxmlformats.org/drawingml/2006/main">
            <a:r>
              <a:t>- app/agent/prompts.py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模型层提供 OpenAI 兼容客户端，角色名称是用途映射，不要求六个不同模型。不要把默认模型名称当作当前运行配置。非流式请求最多 4 次尝试，即首次请求加最多 3 次重试，JSON 解析最多三次尝试，流式实现不共用该重试逻辑。密钥只保存在本地配置，不进入浏览器状态返回。configured=true 仅说明存在配置值，网关认证、可用额度、工具调用和视觉能力仍需各自验证。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app/config.py:13–29</a:t>
            </a:r>
          </a:p>
          <a:p xmlns:a="http://schemas.openxmlformats.org/drawingml/2006/main">
            <a:r>
              <a:t>- app/llm.py:21、38、92、107、156</a:t>
            </a:r>
          </a:p>
          <a:p xmlns:a="http://schemas.openxmlformats.org/drawingml/2006/main">
            <a:r>
              <a:t>- README.md:模型与存储配置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SQLite 使用 WAL、外键和 busy_timeout，附件使用内容哈希命名。备份打包数据库与附件，不包含 .env。资料落在本机并不能推出“数据永不出本机”或端到端加密。模型调用按当前实现发送相关上下文。人物归档和清除也不是全链路匿名化承诺，历史对话、日志及共享文档可能仍保留名字。当前默认监听回环地址，开放到公网前需要明确认证、权限、访问日志、备份与密钥管理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app/store/db.py:15</a:t>
            </a:r>
          </a:p>
          <a:p xmlns:a="http://schemas.openxmlformats.org/drawingml/2006/main">
            <a:r>
              <a:t>- app/store/blob.py</a:t>
            </a:r>
          </a:p>
          <a:p xmlns:a="http://schemas.openxmlformats.org/drawingml/2006/main">
            <a:r>
              <a:t>- app/api/workspace.py</a:t>
            </a:r>
          </a:p>
          <a:p xmlns:a="http://schemas.openxmlformats.org/drawingml/2006/main">
            <a:r>
              <a:t>- README.md:99、332、350、366–374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便携虚构演示快照更新于 2026-10-19，来自 0.10 独立验收库；0.11 UI 验收没有再修改仓库 demo/home.db。所有人物、交流、承诺与转账均为虚构。当前为 71 人，其中 66 可见；220 个字段版本、347 次互动、126 条记忆、69 条承诺、131 笔账目、32 条确认记录、3 个项目、30 个任务（29 完成、1 部分完成）、9 个会话及 47 条存储消息（其中 5 条工具消息）。原始附件仍为三份，未包含研究报告。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条沟通跟进保存四次结果和四次记忆分析，包含五条已确认提案和一条已丢弃提案。快照没有待审阅记忆提案，演示处理历史需选择全部状态。来源演示保留纠错前后回答与旧快照，同名演示保留人物选择及范围澄清，0.9/0.10 会话保留真实网关的成功和失败反例，不能修改旧回答来制造完美演示。严格日期追问用最新记录重新注册来源，明确分开所标日期、首次录入和人工编辑日期。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对象统计覆盖多种状态，不应把不同对象简单相加。新快照独立恢复已通过 SQLite 完整性、外键、三份附件哈希、410 处指定证据字段和十五份保存引用快照检查。演示数据不包含 API 密钥；运行数据和个人密钥仍分别配置。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当前依据（2026-10-19）：demo/README.md:3-20、:50-68；docs/ANSWER_STABILITY_V010.md:77；docs/UI_WORKSPACE_V011.md:77；scripts/restore_demo.py。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最新自动回归为 1139 项通过，0.11 本轮 10.10 秒，验证 API、状态、读写边界、来源、事务和并发等确定性契约。0.11 UI 在 320、390、800、1024、1440 宽度检查今日、对话、人物列表/详情和记忆页无文档横向溢出，并验证历史会话、页签深链、焦点、弹窗和结果保存后刷新；未新增模型采样，不代表语义质量提升。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0.10 冻结新语料正式重复两轮共 24 答，确定性检查 308/309；唯一失败是分类 JSON 无效后保守只读。另有 0.9 回归十答 141/141、0.8 回归十三答 213/213。新语料的二十项实际只读、六项字段目标和二十四项无伪造引用编号检查通过，但仍有普通日期误述、冲突追问取源不连续和修订不可用等反例，没有独立人工语义准确率。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检索数值来自 0.8 虚构自然问法开发集的十个正召回场景，禁用网络和向量；Recall@1/3/5=0.70、MRR@5=0.80，存在明确漏召回。便携快照恢复通过完整性、外键、三附件哈希及来源快照核对。历史抽取 holdout 29/30、字段召回 0.75 仍只是旧样本单次复测，不能和本页指标拼成统一准确率。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当前依据（2026-10-19）：docs/UI_WORKSPACE_V011.md:38-55、:79；docs/ANSWER_STABILITY_V010.md:41-65、:77；docs/MEMORY_QUALITY_V08.md:33-57；demo/README.md:61-68；docs/DELIVERY.md 的历史抽取复测。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本页保留真实产品边界：没有 IM 自动同步、外发消息或登录浏览器操作；没有录音 ASR 和视频分析，扫描 PDF 不逐页 OCR；进程停止不执行提醒和推理，普通任务不支持任意步骤自动续跑；没有多用户访问控制、生产部署方案或依赖锁文件。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忆和回答已经有固定开发回归、来源快照、范围守卫及终稿修订，因此不能再写“没有检索评测”。但这些机制不证明模型语义正确。开发集中仍有无词面重合的漏召回、部分相关记忆漏查、普通问法把记忆标注日期误当编辑日期，以及“这些记录”等追问未稳定重新取源。严格日期模板只覆盖明确整句问法，不能推广到全部问题；终稿修订 completed 也不是语义核验。向量当前未启用，未做效果结论。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当前依据（2026-10-19）：README.md 的“运行与数据边界”；docs/MEMORY_QUALITY_V08.md:51-57；docs/ANSWER_STABILITY_V010.md:37、:55-65；docs/UI_WORKSPACE_V011.md:79。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前端没有 Node 构建步骤。Windows 可使用 run.ps1，macOS/Linux 使用相同 Uvicorn 入口。数据库首次启动创建并执行 migrations。恢复脚本读取 HOME_DB_PATH 和 HOME_BLOB_DIR，默认 data/home.db 与 data/blobs，拒绝覆盖已有库或冲突附件。demo 快照已经包含提交的 WAL 内容，仓库不包含运行日志、trace、API key 和 SQLite WAL/SHM。数据库与 blob 的 .gitattributes 防止跨平台换行转换。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资料依据（代码基线 2725b74，2026-10-16）：</a:t>
            </a:r>
          </a:p>
          <a:p xmlns:a="http://schemas.openxmlformats.org/drawingml/2006/main">
            <a:r>
              <a:t>- README.md:安装与启动、恢复演示数据</a:t>
            </a:r>
          </a:p>
          <a:p xmlns:a="http://schemas.openxmlformats.org/drawingml/2006/main">
            <a:r>
              <a:t>- scripts/restore_demo.py:15</a:t>
            </a:r>
          </a:p>
          <a:p xmlns:a="http://schemas.openxmlformats.org/drawingml/2006/main">
            <a:r>
              <a:t>- demo/README.md</a:t>
            </a:r>
          </a:p>
          <a:p xmlns:a="http://schemas.openxmlformats.org/drawingml/2006/main">
            <a:r>
              <a:t>- app/store/db.py</a:t>
            </a:r>
          </a:p>
          <a:p xmlns:a="http://schemas.openxmlformats.org/drawingml/2006/main">
            <a:r>
              <a:t>- run.ps1</a:t>
            </a:r>
          </a:p>
          <a:p xmlns:a="http://schemas.openxmlformats.org/drawingml/2006/main">
            <a:r>
              <a:t>- .gitattributes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旧版把会前准备、会后整理、历史纠错和来源核对列为规划；当前这些能力已经落地，路线应围绕已观察缺口和真实用户结果重写，而不是重复建设。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 优先处理普通日期问法、冲突追问和来源连续性，保留冻结语料与失败反例，补独立语义审阅；低词面重合检索也需扩展独立样本。P1 在真实用户的小规模连续使用中验证现有今日跟进、沟通准备、实际结果、提案审阅和记忆查询是否节省时间、降低遗漏。P2 补依赖锁定、故障恢复和部署保障，明确单机及服务生命周期边界。P3 仅在有需求证据后考虑连接器和外部执行，并同时设计授权、日志与撤销。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这些是建议，不是已承诺排期。来源和事务行为已有回归，语义正确性与产品价值仍需分别测量；Muse 的持续执行机制可以启发后续工作，但不改变关系助理主线。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当前依据（2026-10-19）：README.md 的当前功能与限制；docs/UI_WORKSPACE_V011.md:7、:79；docs/ANSWER_STABILITY_V010.md:63-65；docs/MEMORY_QUALITY_V08.md:51-57。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有确定性回归、虚构自然问法检索基线与真实模型开发采样，下一步指标不能再写成从零建立评测。人物归属继续测困难同名误归属与确认负担；事实时间需用独立留出集、多次采样核对字段和日期角色；检索回答既测漏召回，也逐句审阅引用是否支持事实、是否夹带无据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任务数据继续用故障注入检查重复写入、重试竞争与恢复完整性。产品价值另测真实用户的会前准备耗时、承诺遗漏、草稿修改量与连续使用情况，不能用测试通过数替代。现有 Recall/MRR 仅限虚构开发集且未启用向量，模型正式采样的检查分母也不是回答准确率。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当前依据（2026-10-19）：docs/MEMORY_QUALITY_V08.md:33-57；docs/ANSWER_STABILITY_V010.md:41-65；docs/UI_WORKSPACE_V011.md:38-55、:79；eval/README.md。本页其余内容为建议指标，尚无真实用户价值测量结果。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独立虚构演示副本展示完整核心闭环。先从今日事项进入人物档案，核对背景、原因和来源；准备沟通并编辑复制草稿，强调系统不代发且生成草稿不算实际联系。随后确认实际结果，明确选择完成承诺或设置下次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行分析该结果中的近况或偏好，核对原文、当前档案及建议生效日期，再确认或忽略；没有新增信息也应展示正常结果。进入记忆库或人物记忆页，展示来源、手动修改、撤销恢复，以及旧回答引用保留当时快照并提示当前已修改。最后查看处理历史、任务状态和备份恢复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便携快照没有待审阅提案，可选择全部状态查看五条确认及一条丢弃历史，或在独立副本新增一次性虚构沟通结果后分析；不要为演示改写旧回答或生产数据。真实模型分析并非本页讲稿已执行的新增验证，须遵守实际运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当前依据（2026-10-19）：demo/README.md:15-20、:21-32；docs/UI_WORKSPACE_V011.md:7-14；app/agent/followup.py:353；app/agent/outcome_memory.py:376；app/api/message_sources.py:12；app/api/memories.py:174、:185。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 home 实现及验收资料更新至 2026-10-19、应用版本 0.11.0。产品与恢复依据为 README.md、demo/README.md 和 scripts/restore_demo.py；记忆写入与纠错依据为 app/memory、app/api/memories.py、app/agent/outcome_memory.py 及 migrations；Agent、来源与后台依据为 app/agent、app/jobs 和 app/api。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详细验证应查 docs/MEMORY_QUALITY_V08.md、docs/ANSWER_TRUST_V09.md、docs/ANSWER_STABILITY_V010.md、docs/ANSWER_STABILITY_V010_REVIEW.md、docs/UI_WORKSPACE_V011.md，以及对应 eval/fixtures、eval/results 和 tests。历史抽取及媒体摄入证据继续保留在 docs/DELIVERY.md、docs/MOCK_QA.md 和 docs/MOCK_QA_20261013.md，不把历史分数冒充本轮模型采样。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竞品页保留原文与原核对日期 2026-10-16，公开来源为 marsdata.ai、introducing.muse.ai 及旧版讲稿保存的 Meta 官方产品和研究博客。本轮未重新核实竞品变化，也未验证登录后的完整能力；竞争定位与本仓库实现证据分别看待。当前实现基线以最终交付提交和仓库版本为准，不再使用旧版 2725b74。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本轮实现基线：e6a3c6d，应用版本 0.11.0。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a90021c8846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066af10cc40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a00056c3d48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6c80824c043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86a27f1bf549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f351c3417448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174A9A-915C-405D-BC2D-6AD87CB90A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3CCCEE-08A0-4624-BB38-A916C3E312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DEFCBB-1B87-4786-9B41-E7EB73550E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6E20A9-91FF-4AC3-B804-1C6398767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AAF08C-C6AB-4B88-94A4-3E405594C9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D44BDE-7903-40D4-A184-FD8DF2A9B1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4157AA-0281-4E30-89EC-C81929FBDC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2EED25-7ECC-4483-86F4-FEEC8EB0A4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FE87CF-5BA5-43E8-A764-C46E60C77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5EEAE4-65BA-499D-B129-64CC9F9A48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016e161fc24ae9" /><Relationship Type="http://schemas.openxmlformats.org/officeDocument/2006/relationships/slideLayout" Target="/ppt/slideLayouts/slideLayout1.xml" Id="R66d314b6b1a64488" /><Relationship Type="http://schemas.openxmlformats.org/officeDocument/2006/relationships/slideLayout" Target="/ppt/slideLayouts/slideLayout2.xml" Id="R44667b35a1e04707" /><Relationship Type="http://schemas.openxmlformats.org/officeDocument/2006/relationships/slideLayout" Target="/ppt/slideLayouts/slideLayout3.xml" Id="R3799c2ec34574e28" /><Relationship Type="http://schemas.openxmlformats.org/officeDocument/2006/relationships/slideLayout" Target="/ppt/slideLayouts/slideLayout4.xml" Id="R763a413bb9f847c6" /><Relationship Type="http://schemas.openxmlformats.org/officeDocument/2006/relationships/slideLayout" Target="/ppt/slideLayouts/slideLayout5.xml" Id="R5c6cf98bd8774e2f" /><Relationship Type="http://schemas.openxmlformats.org/officeDocument/2006/relationships/slideLayout" Target="/ppt/slideLayouts/slideLayout6.xml" Id="R23d8b367a82f40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d314b6b1a64488"/>
    <p:sldLayoutId xmlns:r="http://schemas.openxmlformats.org/officeDocument/2006/relationships" id="2147483650" r:id="R44667b35a1e04707"/>
    <p:sldLayoutId xmlns:r="http://schemas.openxmlformats.org/officeDocument/2006/relationships" id="2147483651" r:id="R3799c2ec34574e28"/>
    <p:sldLayoutId xmlns:r="http://schemas.openxmlformats.org/officeDocument/2006/relationships" id="2147483652" r:id="R763a413bb9f847c6"/>
    <p:sldLayoutId xmlns:r="http://schemas.openxmlformats.org/officeDocument/2006/relationships" id="2147483653" r:id="R5c6cf98bd8774e2f"/>
    <p:sldLayoutId xmlns:r="http://schemas.openxmlformats.org/officeDocument/2006/relationships" id="2147483654" r:id="R23d8b367a82f40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98e1227184afa" /><Relationship Type="http://schemas.openxmlformats.org/officeDocument/2006/relationships/notesSlide" Target="/ppt/notesSlides/notesSlide1.xml" Id="Rc67b81949e6349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ee70251ad4f2e" /><Relationship Type="http://schemas.openxmlformats.org/officeDocument/2006/relationships/notesSlide" Target="/ppt/notesSlides/notesSlide2.xml" Id="R5ff83bccd50f46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6e13962004c6e" /><Relationship Type="http://schemas.openxmlformats.org/officeDocument/2006/relationships/notesSlide" Target="/ppt/notesSlides/notesSlide3.xml" Id="Re78c93284ee448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055721a514c89" /><Relationship Type="http://schemas.openxmlformats.org/officeDocument/2006/relationships/notesSlide" Target="/ppt/notesSlides/notesSlide4.xml" Id="Rae43e8f0dac64f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89a0be54d4e16" /><Relationship Type="http://schemas.openxmlformats.org/officeDocument/2006/relationships/notesSlide" Target="/ppt/notesSlides/notesSlide5.xml" Id="R6b069749678443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53440453a4915" /><Relationship Type="http://schemas.openxmlformats.org/officeDocument/2006/relationships/notesSlide" Target="/ppt/notesSlides/notesSlide6.xml" Id="Rd6bc0a0aeaca41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1bbf929b84b67" /><Relationship Type="http://schemas.openxmlformats.org/officeDocument/2006/relationships/image" Target="/ppt/media/image.jpeg" Id="Rbeea944d70fb4c5a" /><Relationship Type="http://schemas.openxmlformats.org/officeDocument/2006/relationships/notesSlide" Target="/ppt/notesSlides/notesSlide7.xml" Id="R8089e12115c544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f836228aa426b" /><Relationship Type="http://schemas.openxmlformats.org/officeDocument/2006/relationships/image" Target="/ppt/media/image2.jpeg" Id="Re153844d9ad946dd" /><Relationship Type="http://schemas.openxmlformats.org/officeDocument/2006/relationships/notesSlide" Target="/ppt/notesSlides/notesSlide8.xml" Id="R8331c67fe29841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6a5ee9cd5a4068" /><Relationship Type="http://schemas.openxmlformats.org/officeDocument/2006/relationships/image" Target="/ppt/media/image3.jpeg" Id="R8dfbc65cc3024824" /><Relationship Type="http://schemas.openxmlformats.org/officeDocument/2006/relationships/image" Target="/ppt/media/image4.jpeg" Id="Rbd911f21df464b95" /><Relationship Type="http://schemas.openxmlformats.org/officeDocument/2006/relationships/image" Target="/ppt/media/image5.jpeg" Id="Rb26fef81c47f4588" /><Relationship Type="http://schemas.openxmlformats.org/officeDocument/2006/relationships/notesSlide" Target="/ppt/notesSlides/notesSlide9.xml" Id="Rce5d61b6578c48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98e8e6d534c33" /><Relationship Type="http://schemas.openxmlformats.org/officeDocument/2006/relationships/image" Target="/ppt/media/image.png" Id="R0426f9db8a084e90" /><Relationship Type="http://schemas.openxmlformats.org/officeDocument/2006/relationships/notesSlide" Target="/ppt/notesSlides/notesSlide10.xml" Id="R6573dc3792094e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b2513091a4bf6" /><Relationship Type="http://schemas.openxmlformats.org/officeDocument/2006/relationships/image" Target="/ppt/media/image2.png" Id="Rdd7035ad88b24423" /><Relationship Type="http://schemas.openxmlformats.org/officeDocument/2006/relationships/notesSlide" Target="/ppt/notesSlides/notesSlide11.xml" Id="R09fb1ddbc6a546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0cfaf7e034a9b" /><Relationship Type="http://schemas.openxmlformats.org/officeDocument/2006/relationships/image" Target="/ppt/media/image6.jpeg" Id="R16caf6a316014611" /><Relationship Type="http://schemas.openxmlformats.org/officeDocument/2006/relationships/notesSlide" Target="/ppt/notesSlides/notesSlide12.xml" Id="Rcb6339bf6e294a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62d00e65b34059" /><Relationship Type="http://schemas.openxmlformats.org/officeDocument/2006/relationships/image" Target="/ppt/media/image7.jpeg" Id="Re165cf0aac24481b" /><Relationship Type="http://schemas.openxmlformats.org/officeDocument/2006/relationships/notesSlide" Target="/ppt/notesSlides/notesSlide13.xml" Id="R48bb11d6ded543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9d6f25a1d47ea" /><Relationship Type="http://schemas.openxmlformats.org/officeDocument/2006/relationships/image" Target="/ppt/media/image8.jpeg" Id="R36d50c07a31840d1" /><Relationship Type="http://schemas.openxmlformats.org/officeDocument/2006/relationships/notesSlide" Target="/ppt/notesSlides/notesSlide14.xml" Id="Ra3391e32b68d47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bcaad6f494a66" /><Relationship Type="http://schemas.openxmlformats.org/officeDocument/2006/relationships/image" Target="/ppt/media/image9.jpeg" Id="R7392235dca1b4697" /><Relationship Type="http://schemas.openxmlformats.org/officeDocument/2006/relationships/notesSlide" Target="/ppt/notesSlides/notesSlide15.xml" Id="R41e720f7ccd74e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43bd5b31f4019" /><Relationship Type="http://schemas.openxmlformats.org/officeDocument/2006/relationships/image" Target="/ppt/media/image10.jpeg" Id="R46807eae2d88435d" /><Relationship Type="http://schemas.openxmlformats.org/officeDocument/2006/relationships/notesSlide" Target="/ppt/notesSlides/notesSlide16.xml" Id="R3e97dca9ed9749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8ff514c7a446e" /><Relationship Type="http://schemas.openxmlformats.org/officeDocument/2006/relationships/image" Target="/ppt/media/image3.png" Id="Rcc71b93137104179" /><Relationship Type="http://schemas.openxmlformats.org/officeDocument/2006/relationships/notesSlide" Target="/ppt/notesSlides/notesSlide17.xml" Id="R3458118ad09342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6b0b8f9284fca" /><Relationship Type="http://schemas.openxmlformats.org/officeDocument/2006/relationships/image" Target="/ppt/media/image11.jpeg" Id="Rcdab9c6bc590485d" /><Relationship Type="http://schemas.openxmlformats.org/officeDocument/2006/relationships/notesSlide" Target="/ppt/notesSlides/notesSlide18.xml" Id="R61fae48a5f734e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6a31ce83143b0" /><Relationship Type="http://schemas.openxmlformats.org/officeDocument/2006/relationships/image" Target="/ppt/media/image12.jpeg" Id="R59b54bdb30744d95" /><Relationship Type="http://schemas.openxmlformats.org/officeDocument/2006/relationships/notesSlide" Target="/ppt/notesSlides/notesSlide19.xml" Id="Re7236fda69cf4b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3e38f9a694231" /><Relationship Type="http://schemas.openxmlformats.org/officeDocument/2006/relationships/image" Target="/ppt/media/image13.jpeg" Id="R5a3ef883bd33400f" /><Relationship Type="http://schemas.openxmlformats.org/officeDocument/2006/relationships/image" Target="/ppt/media/image14.jpeg" Id="Rc4cacdcd73ec4474" /><Relationship Type="http://schemas.openxmlformats.org/officeDocument/2006/relationships/notesSlide" Target="/ppt/notesSlides/notesSlide20.xml" Id="Rc94326aa2f4a4a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0cfba8faf4d17" /><Relationship Type="http://schemas.openxmlformats.org/officeDocument/2006/relationships/image" Target="/ppt/media/image4.png" Id="Rb6b9d638343b43e8" /><Relationship Type="http://schemas.openxmlformats.org/officeDocument/2006/relationships/notesSlide" Target="/ppt/notesSlides/notesSlide21.xml" Id="Rae535b314a224e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a340a68814bce" /><Relationship Type="http://schemas.openxmlformats.org/officeDocument/2006/relationships/notesSlide" Target="/ppt/notesSlides/notesSlide22.xml" Id="Rd81587eeebf6440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b8b87b8a294b16" /><Relationship Type="http://schemas.openxmlformats.org/officeDocument/2006/relationships/notesSlide" Target="/ppt/notesSlides/notesSlide23.xml" Id="R717a99dc3f9c41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da81e3b1a461b" /><Relationship Type="http://schemas.openxmlformats.org/officeDocument/2006/relationships/notesSlide" Target="/ppt/notesSlides/notesSlide24.xml" Id="R0873043bb902491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9d55e82cc4d7c" /><Relationship Type="http://schemas.openxmlformats.org/officeDocument/2006/relationships/notesSlide" Target="/ppt/notesSlides/notesSlide25.xml" Id="Ra29d71adc84d4a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2c2b97f144b7c" /><Relationship Type="http://schemas.openxmlformats.org/officeDocument/2006/relationships/notesSlide" Target="/ppt/notesSlides/notesSlide26.xml" Id="R443e8ed95018427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58d2fd6534702" /><Relationship Type="http://schemas.openxmlformats.org/officeDocument/2006/relationships/notesSlide" Target="/ppt/notesSlides/notesSlide27.xml" Id="R568f4aa6527a471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364ff96134fac" /><Relationship Type="http://schemas.openxmlformats.org/officeDocument/2006/relationships/notesSlide" Target="/ppt/notesSlides/notesSlide28.xml" Id="R1669fa3223fd400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8aa57d0e24e4c" /><Relationship Type="http://schemas.openxmlformats.org/officeDocument/2006/relationships/notesSlide" Target="/ppt/notesSlides/notesSlide29.xml" Id="R8b5d51d073ab447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d1ca52e9e3464c" /><Relationship Type="http://schemas.openxmlformats.org/officeDocument/2006/relationships/notesSlide" Target="/ppt/notesSlides/notesSlide30.xml" Id="R17d6a64b6c774ac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748be7fa44ef6" /><Relationship Type="http://schemas.openxmlformats.org/officeDocument/2006/relationships/notesSlide" Target="/ppt/notesSlides/notesSlide31.xml" Id="R8562fc38e5db491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63b8da0ab4516" /><Relationship Type="http://schemas.openxmlformats.org/officeDocument/2006/relationships/notesSlide" Target="/ppt/notesSlides/notesSlide32.xml" Id="Rabf9c4a9897d43e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ad3499746419b" /><Relationship Type="http://schemas.openxmlformats.org/officeDocument/2006/relationships/notesSlide" Target="/ppt/notesSlides/notesSlide33.xml" Id="R47e7bfdd91524e8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b43e6cadb4975" /><Relationship Type="http://schemas.openxmlformats.org/officeDocument/2006/relationships/image" Target="/ppt/media/image15.jpeg" Id="R21335312f0ae44bf" /><Relationship Type="http://schemas.openxmlformats.org/officeDocument/2006/relationships/notesSlide" Target="/ppt/notesSlides/notesSlide34.xml" Id="R1eaaf3ac825742c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17f5190654f51" /><Relationship Type="http://schemas.openxmlformats.org/officeDocument/2006/relationships/notesSlide" Target="/ppt/notesSlides/notesSlide35.xml" Id="R70c8fe65fc61440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ad0a56e634214" /><Relationship Type="http://schemas.openxmlformats.org/officeDocument/2006/relationships/notesSlide" Target="/ppt/notesSlides/notesSlide36.xml" Id="R2e17fd120e4642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d967963df4747" /><Relationship Type="http://schemas.openxmlformats.org/officeDocument/2006/relationships/image" Target="/ppt/media/image16.jpeg" Id="R66a5455979394d4b" /><Relationship Type="http://schemas.openxmlformats.org/officeDocument/2006/relationships/notesSlide" Target="/ppt/notesSlides/notesSlide37.xml" Id="R121991eef3d243a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1292e12104fd7" /><Relationship Type="http://schemas.openxmlformats.org/officeDocument/2006/relationships/notesSlide" Target="/ppt/notesSlides/notesSlide38.xml" Id="R10339600cd19439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43360d8b4418d" /><Relationship Type="http://schemas.openxmlformats.org/officeDocument/2006/relationships/notesSlide" Target="/ppt/notesSlides/notesSlide39.xml" Id="Rfdee733bb033459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47ed8f2db34d0e" /><Relationship Type="http://schemas.openxmlformats.org/officeDocument/2006/relationships/notesSlide" Target="/ppt/notesSlides/notesSlide40.xml" Id="R63f7f04fcd1545b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e3c55457b4521" /><Relationship Type="http://schemas.openxmlformats.org/officeDocument/2006/relationships/chart" Target="/ppt/slides/charts/chart1.xml" Id="R6a5b11295c614615" /><Relationship Type="http://schemas.openxmlformats.org/officeDocument/2006/relationships/notesSlide" Target="/ppt/notesSlides/notesSlide41.xml" Id="R69c7aa1d1b6b4b5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9f249a5924d3f" /><Relationship Type="http://schemas.openxmlformats.org/officeDocument/2006/relationships/notesSlide" Target="/ppt/notesSlides/notesSlide42.xml" Id="R584d028744a2463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7695629ed4bb5" /><Relationship Type="http://schemas.openxmlformats.org/officeDocument/2006/relationships/notesSlide" Target="/ppt/notesSlides/notesSlide43.xml" Id="R9387813b6f24484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bc2ee7f77444b" /><Relationship Type="http://schemas.openxmlformats.org/officeDocument/2006/relationships/notesSlide" Target="/ppt/notesSlides/notesSlide44.xml" Id="Rfe4fe6dc3e544b5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c7d8e2fd5494a" /><Relationship Type="http://schemas.openxmlformats.org/officeDocument/2006/relationships/notesSlide" Target="/ppt/notesSlides/notesSlide45.xml" Id="R0831596685dd4fd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8887228ba405f" /><Relationship Type="http://schemas.openxmlformats.org/officeDocument/2006/relationships/notesSlide" Target="/ppt/notesSlides/notesSlide46.xml" Id="Rfa511b350ea74a2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917aaca0a4f9a" /><Relationship Type="http://schemas.openxmlformats.org/officeDocument/2006/relationships/notesSlide" Target="/ppt/notesSlides/notesSlide47.xml" Id="R8449b1f58df44b4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4ab9e5d4a44f5" /><Relationship Type="http://schemas.openxmlformats.org/officeDocument/2006/relationships/notesSlide" Target="/ppt/notesSlides/notesSlide48.xml" Id="R9ec8d06cfdb24b4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记录数量</c:v>
          </c:tx>
          <c:spPr>
            <a:solidFill xmlns:a="http://schemas.openxmlformats.org/drawingml/2006/main">
              <a:srgbClr val="1D6B50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互动</c:v>
                </c:pt>
                <c:pt idx="1">
                  <c:v>字段版本</c:v>
                </c:pt>
                <c:pt idx="2">
                  <c:v>账目</c:v>
                </c:pt>
                <c:pt idx="3">
                  <c:v>记忆</c:v>
                </c:pt>
                <c:pt idx="4">
                  <c:v>承诺</c:v>
                </c:pt>
                <c:pt idx="5">
                  <c:v>可见人物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347</c:v>
                </c:pt>
                <c:pt idx="1">
                  <c:v>220</c:v>
                </c:pt>
                <c:pt idx="2">
                  <c:v>131</c:v>
                </c:pt>
                <c:pt idx="3">
                  <c:v>126</c:v>
                </c:pt>
                <c:pt idx="4">
                  <c:v>69</c:v>
                </c:pt>
                <c:pt idx="5">
                  <c:v>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C2924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6D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29E51F2C-3489-47BF-8A59-000C3644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项目介绍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7AEEBAB-8B78-4AF6-8FD1-23E34282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57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9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AEA8888-BEA2-4CF8-9F49-2B0098CD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私人关系助理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032651A-9902-4276-A49F-648D0950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以人为索引，整理交流、近况、承诺与往来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6A339A7-2390-4CA0-B611-39EF365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产品功能、记忆与 Agent 架构、验证与后续方向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C000AE8-2905-44F9-B3C4-D058526D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864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v0.11.0    2026 年 10 月 19 日</a:t>
            </a:r>
          </a:p>
        </p:txBody>
      </p:sp>
    </p:spTree>
    <p:extLst>
      <p:ext uri="{BB962C8B-B14F-4D97-AF65-F5344CB8AC3E}">
        <p14:creationId xmlns:p14="http://schemas.microsoft.com/office/powerpoint/2010/main" val="1958669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">
            <a:extLst xmlns:a="http://schemas.openxmlformats.org/drawingml/2006/main">
              <a:ext uri="{FF2B5EF4-FFF2-40B4-BE49-F238E27FC236}">
                <a16:creationId xmlns:a16="http://schemas.microsoft.com/office/drawing/2014/main" id="{B1CD2168-7F51-4779-B31E-58DF37B3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01  产品定位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8D0962A-8A88-4B82-BC23-D6C530F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项目概览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2D50192-E847-45CF-B37B-22951856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0.11 已形成可回顾、跟进与纠错的工作台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B8612-169B-47F7-B668-6C53863D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77E4E18-F304-4147-A11A-D0AD38C8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0A785C5-AA85-4A16-9BCC-CC60FA4B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C712277-1830-45A4-8093-DA108630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CD6F132-BEAC-4DAC-B4DE-79F36A5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以人物档案为中心的关系工作台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C41704B-05FC-445D-A1B4-452D46C8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工作对象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7D75F743-74E4-4EB7-97E4-FCDDB40F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48000"/>
            <a:ext cx="8924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人物背景、互动历史、关系变化、承诺与收付记录。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6853D-EC56-4D47-9F43-865A1E0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7960E48C-BBC2-4E07-B81F-8546C627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主要产出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B8767867-DE4E-4FAC-B146-3BF24AA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71900"/>
            <a:ext cx="8924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可追溯档案、沟通简报、记忆提案与有来源回答。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E92FF-6D96-49DA-AA7E-02F69925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73749856-8758-4BB5-84C4-DE1E08E2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使用方式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7812795F-AF62-4998-A618-3B76D46B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495800"/>
            <a:ext cx="8924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本地运行，浏览器访问，个人独立使用。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584CD-D125-4F31-9791-8FBA5285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A0AACCE0-3F1D-454E-8920-C2EDF16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技术边界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7067C6A7-2F9B-4742-8C35-F59DCFA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219700"/>
            <a:ext cx="8924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资料保存在本机，相关内容通过配置的模型 API 推理。</a:t>
            </a:r>
          </a:p>
        </p:txBody>
      </p:sp>
    </p:spTree>
    <p:extLst>
      <p:ext uri="{BB962C8B-B14F-4D97-AF65-F5344CB8AC3E}">
        <p14:creationId xmlns:p14="http://schemas.microsoft.com/office/powerpoint/2010/main" val="401055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7E571D79-82F5-44CA-B3EC-4C8DE5F1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01  产品定位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D295AA7-D55A-4B60-83DE-1FC1E3CA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聚焦的问题与使用人群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747B79C-61B7-4144-BCA0-1BEF3C13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以下人群与需求是产品假设，尚无市场验证数据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57CEE-A228-4813-A91A-7D8E3311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8397D03-3224-43D9-8A0C-0C693E30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E62AEF9-C4B8-465A-AF30-391BC3AC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0C315C3-793F-4F97-922D-CB7AD1F5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59FFD6F-93AB-4B02-81FA-A65E62A8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交流信息散落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065D4F83-B75C-423D-9053-3A2A5EE0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消息、截图和文档分散，会前需要重新翻找。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9A29671-D01F-43E3-8FB3-D11FF80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人物近况会变化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F2777905-598B-4EF1-B548-ED3C21D8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同名、别名、换城市或换工作，容易把旧事实当成现状。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A9C0AEF8-BC2B-4F38-9FF7-7751D36E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597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长期维护合作关系的个人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1A190040-8E64-4E6B-8BFD-1A2597AD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5181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创业者、业务拓展、客户成功、咨询等场景。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C6B8C3AA-10AC-49FE-9275-382F5872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需要记住约定与往来的个人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569EC701-C9A2-4481-BA06-5353F3B8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48175"/>
            <a:ext cx="5181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会前回忆、会后整理。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合作跟进、亲友近况回顾。</a:t>
            </a:r>
          </a:p>
        </p:txBody>
      </p:sp>
    </p:spTree>
    <p:extLst>
      <p:ext uri="{BB962C8B-B14F-4D97-AF65-F5344CB8AC3E}">
        <p14:creationId xmlns:p14="http://schemas.microsoft.com/office/powerpoint/2010/main" val="1284765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C2E2DDCF-2C26-43E6-997B-1AEBAA2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01  产品定位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D58DF6D-7D41-42FD-9A28-CEFEAE95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完整使用流程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98BB098-8FBD-439F-8C88-C87D8C0B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从记录近况到实际沟通，再把结果审阅入档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01CE4-ED72-48CB-8EFC-0E8EF32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0AC93C9-FBFA-4EA3-B92A-A9206993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66316CF-4133-4FA8-807D-76A847CA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59B904B-CC51-4EAD-870B-CDFB5D29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76850-3CE9-492C-BCE5-89F98453F664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5476875"/>
                <a:gridCol w="3733800"/>
              </a:tblGrid>
              <a:tr h="6381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用户或系统的动作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形成的结果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381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 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文字记事或导入聊天、截图和文档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原文、附件与回执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 核对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身份消歧、来源确认与历史纠错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可追溯人物与记忆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381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 准备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今日事项带入目标，准备沟通草稿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有来源简报与草稿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 结果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确认实际联系、承诺及下次提醒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联系与后续安排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381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  更新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分析结果，审阅或忽略记忆提案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确认后更新档案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530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28DBD3FA-DE6D-4E5E-ADF0-0702597F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4F46629-56E5-4710-B8BA-C1A13646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工作台全景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B20D18F-806F-42A0-B43A-AC551C92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四个日常入口，连接关系维护与全部工具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59689-1880-456B-B681-796CE805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E18DA5E-C845-4DBF-A40E-B0DD1E6F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8FF6650-4F37-4127-BFDE-5F0AFF9A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DB25659-A482-4C73-B1D2-D5258FBC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4FAD3-132C-45BA-8BEA-93C056B67AC7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667250"/>
                <a:gridCol w="4305300"/>
              </a:tblGrid>
              <a:tr h="64135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功能组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135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日常入口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今日、对话、人物、记忆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跟进事项、记录查询、档案与记忆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关系背景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关系星图、项目、人物历史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理解人物状态、关系与合作背景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135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行动与记录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待确认、承诺与提醒、往来账本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处理歧义、跟进约定、核对收付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探索与工具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沟通技能、深度研究、关系日志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复用沟通方法、研究与阶段回顾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135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运行管理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任务中心、设置与数据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查看进度，重试任务，备份与配置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376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43905B-4411-443F-B649-94260B24C58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05700" y="3924300"/>
            <a:ext cx="1076325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CE4F2-119B-42A5-9B6F-2CD9CA17461E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609975" y="3924300"/>
            <a:ext cx="1076325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D6B50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52F56-4A4F-4E47-BD30-2476F1C2E81B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505700" y="2752725"/>
            <a:ext cx="1076325" cy="1171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6030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337A2-EE89-4E78-A628-D3131D58218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609975" y="2752725"/>
            <a:ext cx="1076325" cy="1171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sp>
        <p:nvSpPr>
          <p:cNvPr id="28" name="label-1">
            <a:extLst xmlns:a="http://schemas.openxmlformats.org/drawingml/2006/main">
              <a:ext uri="{FF2B5EF4-FFF2-40B4-BE49-F238E27FC236}">
                <a16:creationId xmlns:a16="http://schemas.microsoft.com/office/drawing/2014/main" id="{A4895311-ED6B-42B6-9E37-EE59F8BD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60FCCD67-F838-4BB9-8E9C-4EE1A64D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产品功能地图</a:t>
            </a:r>
          </a:p>
        </p:txBody>
      </p:sp>
      <p:sp>
        <p:nvSpPr>
          <p:cNvPr id="3" name="label-3">
            <a:extLst xmlns:a="http://schemas.openxmlformats.org/drawingml/2006/main">
              <a:ext uri="{FF2B5EF4-FFF2-40B4-BE49-F238E27FC236}">
                <a16:creationId xmlns:a16="http://schemas.microsoft.com/office/drawing/2014/main" id="{84E11C9C-9564-45A9-980F-572A2820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人物档案连接记录、记忆核对与实际沟通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421A23B3-0D3C-476A-9814-65AE7D7998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  <a:prstDash val="solid"/>
          </a:ln>
        </p:spPr>
      </p:cxnSp>
      <p:sp>
        <p:nvSpPr>
          <p:cNvPr id="5" name="label-5">
            <a:extLst xmlns:a="http://schemas.openxmlformats.org/drawingml/2006/main">
              <a:ext uri="{FF2B5EF4-FFF2-40B4-BE49-F238E27FC236}">
                <a16:creationId xmlns:a16="http://schemas.microsoft.com/office/drawing/2014/main" id="{9F822B89-2712-403B-8869-DEC495E2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label-6">
            <a:extLst xmlns:a="http://schemas.openxmlformats.org/drawingml/2006/main">
              <a:ext uri="{FF2B5EF4-FFF2-40B4-BE49-F238E27FC236}">
                <a16:creationId xmlns:a16="http://schemas.microsoft.com/office/drawing/2014/main" id="{26668E38-3FAD-46DF-B11A-2955D3B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label-7">
            <a:extLst xmlns:a="http://schemas.openxmlformats.org/drawingml/2006/main">
              <a:ext uri="{FF2B5EF4-FFF2-40B4-BE49-F238E27FC236}">
                <a16:creationId xmlns:a16="http://schemas.microsoft.com/office/drawing/2014/main" id="{5A5C8423-FF1A-4563-ADE2-AFE2105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8" name="product-input">
            <a:extLst xmlns:a="http://schemas.openxmlformats.org/drawingml/2006/main">
              <a:ext uri="{FF2B5EF4-FFF2-40B4-BE49-F238E27FC236}">
                <a16:creationId xmlns:a16="http://schemas.microsoft.com/office/drawing/2014/main" id="{845D418A-C41C-4ED5-ACF6-579BBAEB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000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9" name="label-9">
            <a:extLst xmlns:a="http://schemas.openxmlformats.org/drawingml/2006/main">
              <a:ext uri="{FF2B5EF4-FFF2-40B4-BE49-F238E27FC236}">
                <a16:creationId xmlns:a16="http://schemas.microsoft.com/office/drawing/2014/main" id="{F8580C8B-0D16-42A5-BE0F-96C6B410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771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记录入口</a:t>
            </a:r>
          </a:p>
        </p:txBody>
      </p:sp>
      <p:sp>
        <p:nvSpPr>
          <p:cNvPr id="10" name="label-10">
            <a:extLst xmlns:a="http://schemas.openxmlformats.org/drawingml/2006/main">
              <a:ext uri="{FF2B5EF4-FFF2-40B4-BE49-F238E27FC236}">
                <a16:creationId xmlns:a16="http://schemas.microsoft.com/office/drawing/2014/main" id="{D8255261-12C2-45B4-B7B7-3640B1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2771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对话 / 聊天导出 / 附件</a:t>
            </a:r>
          </a:p>
        </p:txBody>
      </p:sp>
      <p:sp>
        <p:nvSpPr>
          <p:cNvPr id="11" name="product-confirm">
            <a:extLst xmlns:a="http://schemas.openxmlformats.org/drawingml/2006/main">
              <a:ext uri="{FF2B5EF4-FFF2-40B4-BE49-F238E27FC236}">
                <a16:creationId xmlns:a16="http://schemas.microsoft.com/office/drawing/2014/main" id="{FDEE4023-0C0C-4B63-B5BA-6F16865E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66950"/>
            <a:ext cx="3000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8"/>
          </a:solidFill>
          <a:ln xmlns:a="http://schemas.openxmlformats.org/drawingml/2006/main" w="14288">
            <a:solidFill>
              <a:srgbClr val="9B6030"/>
            </a:solidFill>
          </a:ln>
        </p:spPr>
      </p:sp>
      <p:sp>
        <p:nvSpPr>
          <p:cNvPr id="12" name="label-12">
            <a:extLst xmlns:a="http://schemas.openxmlformats.org/drawingml/2006/main">
              <a:ext uri="{FF2B5EF4-FFF2-40B4-BE49-F238E27FC236}">
                <a16:creationId xmlns:a16="http://schemas.microsoft.com/office/drawing/2014/main" id="{1A34D129-8F1B-4D15-B5C3-CB73204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81250"/>
            <a:ext cx="2771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核对与纠错</a:t>
            </a:r>
          </a:p>
        </p:txBody>
      </p:sp>
      <p:sp>
        <p:nvSpPr>
          <p:cNvPr id="13" name="label-13">
            <a:extLst xmlns:a="http://schemas.openxmlformats.org/drawingml/2006/main">
              <a:ext uri="{FF2B5EF4-FFF2-40B4-BE49-F238E27FC236}">
                <a16:creationId xmlns:a16="http://schemas.microsoft.com/office/drawing/2014/main" id="{C2900DA3-C0B7-4A34-8B3B-FC9E52EE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52725"/>
            <a:ext cx="2771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身份 / 来源 / 记忆纠错</a:t>
            </a:r>
          </a:p>
        </p:txBody>
      </p:sp>
      <p:sp>
        <p:nvSpPr>
          <p:cNvPr id="14" name="product-person">
            <a:extLst xmlns:a="http://schemas.openxmlformats.org/drawingml/2006/main">
              <a:ext uri="{FF2B5EF4-FFF2-40B4-BE49-F238E27FC236}">
                <a16:creationId xmlns:a16="http://schemas.microsoft.com/office/drawing/2014/main" id="{B19EE234-A991-48F1-8EA3-B13C22EB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24225"/>
            <a:ext cx="2819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5" name="label-15">
            <a:extLst xmlns:a="http://schemas.openxmlformats.org/drawingml/2006/main">
              <a:ext uri="{FF2B5EF4-FFF2-40B4-BE49-F238E27FC236}">
                <a16:creationId xmlns:a16="http://schemas.microsoft.com/office/drawing/2014/main" id="{4A66020E-455D-4E3F-91B3-7CB8355F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3852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人物档案</a:t>
            </a:r>
          </a:p>
        </p:txBody>
      </p:sp>
      <p:sp>
        <p:nvSpPr>
          <p:cNvPr id="16" name="label-16">
            <a:extLst xmlns:a="http://schemas.openxmlformats.org/drawingml/2006/main">
              <a:ext uri="{FF2B5EF4-FFF2-40B4-BE49-F238E27FC236}">
                <a16:creationId xmlns:a16="http://schemas.microsoft.com/office/drawing/2014/main" id="{EE79D5CE-D352-49F2-A099-5DD5477E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概览、沟通、记忆与历史</a:t>
            </a:r>
          </a:p>
        </p:txBody>
      </p:sp>
      <p:sp>
        <p:nvSpPr>
          <p:cNvPr id="17" name="product-context">
            <a:extLst xmlns:a="http://schemas.openxmlformats.org/drawingml/2006/main">
              <a:ext uri="{FF2B5EF4-FFF2-40B4-BE49-F238E27FC236}">
                <a16:creationId xmlns:a16="http://schemas.microsoft.com/office/drawing/2014/main" id="{0A109869-7DBC-4BED-85D0-75963534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000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8" name="label-18">
            <a:extLst xmlns:a="http://schemas.openxmlformats.org/drawingml/2006/main">
              <a:ext uri="{FF2B5EF4-FFF2-40B4-BE49-F238E27FC236}">
                <a16:creationId xmlns:a16="http://schemas.microsoft.com/office/drawing/2014/main" id="{8AF33F55-F13F-47F5-9760-66ADE8A4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2771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关系背景</a:t>
            </a:r>
          </a:p>
        </p:txBody>
      </p:sp>
      <p:sp>
        <p:nvSpPr>
          <p:cNvPr id="19" name="label-19">
            <a:extLst xmlns:a="http://schemas.openxmlformats.org/drawingml/2006/main">
              <a:ext uri="{FF2B5EF4-FFF2-40B4-BE49-F238E27FC236}">
                <a16:creationId xmlns:a16="http://schemas.microsoft.com/office/drawing/2014/main" id="{A389A4E2-0CE6-4778-B977-F94B2FB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2771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项目 / 互动 / 关系星图</a:t>
            </a:r>
          </a:p>
        </p:txBody>
      </p:sp>
      <p:sp>
        <p:nvSpPr>
          <p:cNvPr id="20" name="product-action">
            <a:extLst xmlns:a="http://schemas.openxmlformats.org/drawingml/2006/main">
              <a:ext uri="{FF2B5EF4-FFF2-40B4-BE49-F238E27FC236}">
                <a16:creationId xmlns:a16="http://schemas.microsoft.com/office/drawing/2014/main" id="{EE164291-17FB-42C4-8542-B99BCF91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76750"/>
            <a:ext cx="3000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1" name="label-21">
            <a:extLst xmlns:a="http://schemas.openxmlformats.org/drawingml/2006/main">
              <a:ext uri="{FF2B5EF4-FFF2-40B4-BE49-F238E27FC236}">
                <a16:creationId xmlns:a16="http://schemas.microsoft.com/office/drawing/2014/main" id="{26C2E17F-4C40-4677-8369-86CF2FA8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1050"/>
            <a:ext cx="2771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沟通与更新</a:t>
            </a:r>
          </a:p>
        </p:txBody>
      </p:sp>
      <p:sp>
        <p:nvSpPr>
          <p:cNvPr id="22" name="label-22">
            <a:extLst xmlns:a="http://schemas.openxmlformats.org/drawingml/2006/main">
              <a:ext uri="{FF2B5EF4-FFF2-40B4-BE49-F238E27FC236}">
                <a16:creationId xmlns:a16="http://schemas.microsoft.com/office/drawing/2014/main" id="{2D48C9AA-A1B2-4310-9096-F73BC860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62525"/>
            <a:ext cx="2771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准备 / 结果 / 记忆提案</a:t>
            </a:r>
          </a:p>
        </p:txBody>
      </p:sp>
      <p:sp>
        <p:nvSpPr>
          <p:cNvPr id="27" name="label-27">
            <a:extLst xmlns:a="http://schemas.openxmlformats.org/drawingml/2006/main">
              <a:ext uri="{FF2B5EF4-FFF2-40B4-BE49-F238E27FC236}">
                <a16:creationId xmlns:a16="http://schemas.microsoft.com/office/drawing/2014/main" id="{95E66390-4CC4-415B-8690-6881EC45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/>
            </a:r>
          </a:p>
        </p:txBody>
      </p:sp>
      <p:cxnSp>
        <p:nvCxnSpPr>
          <p:cNvPr id="29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F78B94B9-C48E-43D5-B5B2-486E165D2A2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77450" y="54483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tailEnd type="triangle" w="med" len="med"/>
          </a:ln>
        </p:spPr>
      </p:cxnSp>
      <p:cxnSp>
        <p:nvCxnSpPr>
          <p:cNvPr id="30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14CCB2CC-F8D9-42E0-AFC1-0480BB38C4B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096000" y="5657850"/>
            <a:ext cx="398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</a:ln>
        </p:spPr>
      </p:cxnSp>
      <p:cxnSp>
        <p:nvCxnSpPr>
          <p:cNvPr id="31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40D83642-66AF-4D39-B3D4-0B12F4FBDEB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96000" y="452437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tailEnd type="triangle" w="med" len="med"/>
          </a:ln>
        </p:spPr>
      </p:cxn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B192E82B-0663-414B-8DFD-6720A7C4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实际结果经提案审阅，更新人物档案</a:t>
            </a:r>
          </a:p>
        </p:txBody>
      </p:sp>
    </p:spTree>
    <p:extLst>
      <p:ext uri="{BB962C8B-B14F-4D97-AF65-F5344CB8AC3E}">
        <p14:creationId xmlns:p14="http://schemas.microsoft.com/office/powerpoint/2010/main" val="1514619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0C2503D8-6F1D-4FE4-842B-69FAFAE5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ED98411-E569-4BBB-97D2-FD8B9C83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今日跟进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337A21D-3307-484B-BC83-76D72715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有原因、有来源地安排下一次沟通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F4DA3-2C54-4CB4-982D-9E3A7E1B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DB2B0E4-3EA6-4DD9-AB5B-924C357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B17751B-D601-4051-B67E-FA67F659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069A052-DAE0-4CC4-91A9-02D89AFF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0456F-89C9-4F9D-8FD1-525E0FA45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a944d70fb4c5a"/>
          <a:stretch xmlns:a="http://schemas.openxmlformats.org/drawingml/2006/main"/>
        </p:blipFill>
        <p:spPr>
          <a:xfrm xmlns:a="http://schemas.openxmlformats.org/drawingml/2006/main">
            <a:off x="1709738" y="2009775"/>
            <a:ext cx="5486400" cy="3810000"/>
          </a:xfrm>
          <a:prstGeom xmlns:a="http://schemas.openxmlformats.org/drawingml/2006/main" prst="rect">
            <a:avLst/>
          </a:prstGeom>
        </p:spPr>
      </p:pic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846350F1-D6B4-4C27-B9E0-B175EE44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764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约定与提醒</a:t>
            </a:r>
          </a:p>
        </p:txBody>
      </p:sp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51B9F35B-7372-4480-91AF-DAC2A513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0507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到期事项与来源放在一起。</a:t>
            </a:r>
          </a:p>
        </p:txBody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56ED3C98-BF56-42EE-81CA-A237EA7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05175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沟通跟进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B9CBCCA6-D2E7-4BE4-A719-1EE8A9AA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33800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等待回复与后续跟进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1ED7C464-FFBC-4FF7-8391-A012247B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53390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联系周期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2DB1D3E4-D49D-49EF-A5E1-7609045C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6252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按实际联系判断，可稍后或准备沟通。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35A2EEAA-25B3-4093-A3A6-2F1497C2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166647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">
            <a:extLst xmlns:a="http://schemas.openxmlformats.org/drawingml/2006/main">
              <a:ext uri="{FF2B5EF4-FFF2-40B4-BE49-F238E27FC236}">
                <a16:creationId xmlns:a16="http://schemas.microsoft.com/office/drawing/2014/main" id="{728E7040-E636-4FC1-B2B8-910CB7BF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7F760B4-9CD1-40CD-AE5C-7C022AE2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人物档案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08BF91D-AE53-45CA-BD28-D8E2D3BE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独立人物页面，按概览、沟通、记忆和历史分区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DF18A-2B1D-4164-AD44-DE7DF9C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54812FC-0348-489A-B033-97666FA3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F1F23DA-F0B4-4C54-B24B-E94DCEE9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A39BD01-4FA9-4134-AC0D-77F7E4F3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D7524-EC1B-44F1-AFD1-7FFAAB56F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3844d9ad946dd"/>
          <a:stretch xmlns:a="http://schemas.openxmlformats.org/drawingml/2006/main"/>
        </p:blipFill>
        <p:spPr>
          <a:xfrm xmlns:a="http://schemas.openxmlformats.org/drawingml/2006/main">
            <a:off x="1709738" y="2009775"/>
            <a:ext cx="5486400" cy="3810000"/>
          </a:xfrm>
          <a:prstGeom xmlns:a="http://schemas.openxmlformats.org/drawingml/2006/main" prst="rect">
            <a:avLst/>
          </a:prstGeom>
        </p:spPr>
      </p:pic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7DB8231C-A866-42A8-BBE9-C3909330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764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独立详情页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ED248299-071B-43D2-A58A-211EC292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0507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身份、实际联系与沟通入口固定呈现。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B7A43CF0-9D86-4A75-8DF9-0D994961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05175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四个页签</a:t>
            </a:r>
          </a:p>
        </p:txBody>
      </p:sp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0D42A668-C1CE-4858-90E9-8C6F43D6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33800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概览、沟通、记忆与历史。</a:t>
            </a:r>
          </a:p>
        </p:txBody>
      </p:sp>
      <p:sp>
        <p:nvSpPr>
          <p:cNvPr id="20" name="text-12">
            <a:extLst xmlns:a="http://schemas.openxmlformats.org/drawingml/2006/main">
              <a:ext uri="{FF2B5EF4-FFF2-40B4-BE49-F238E27FC236}">
                <a16:creationId xmlns:a16="http://schemas.microsoft.com/office/drawing/2014/main" id="{C4254EC4-991C-4701-B1E3-88E6F378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53390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日期与深链</a:t>
            </a:r>
          </a:p>
        </p:txBody>
      </p:sp>
      <p:sp>
        <p:nvSpPr>
          <p:cNvPr id="21" name="text-13">
            <a:extLst xmlns:a="http://schemas.openxmlformats.org/drawingml/2006/main">
              <a:ext uri="{FF2B5EF4-FFF2-40B4-BE49-F238E27FC236}">
                <a16:creationId xmlns:a16="http://schemas.microsoft.com/office/drawing/2014/main" id="{86235CB2-14AD-47A7-9388-9C8606BC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6252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历史可按日期回看，页签可直达。</a:t>
            </a:r>
          </a:p>
        </p:txBody>
      </p:sp>
      <p:sp>
        <p:nvSpPr>
          <p:cNvPr id="22" name="text-14">
            <a:extLst xmlns:a="http://schemas.openxmlformats.org/drawingml/2006/main">
              <a:ext uri="{FF2B5EF4-FFF2-40B4-BE49-F238E27FC236}">
                <a16:creationId xmlns:a16="http://schemas.microsoft.com/office/drawing/2014/main" id="{EE0BFD07-F17F-4E4C-8E7F-29701790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532869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B655C920-9709-4E9F-98CB-A1468F4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11345CA-DDC4-4E60-95C4-846FF3DA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桌面与手机的日常入口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3CDD14D-46C7-4C8B-A8D0-B06F2653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手机底部保留高频导航，历史与完整工具从面板展开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8FA02431-58F7-4C33-9FD0-5975ED6C65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</a:ln>
        </p:spPr>
      </p:cxn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E5FF7B2-F844-4601-9E99-78E152D1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5195477-5F55-44BC-BAEB-5484D4CA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1A92714-E0B2-4792-8CD1-CC4E76C8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ADBE5-F84A-4D27-B407-14D2530DD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bc65cc3024824"/>
          <a:stretch xmlns:a="http://schemas.openxmlformats.org/drawingml/2006/main"/>
        </p:blipFill>
        <p:spPr>
          <a:xfrm xmlns:a="http://schemas.openxmlformats.org/drawingml/2006/main">
            <a:off x="997371" y="2047875"/>
            <a:ext cx="1558082" cy="33718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B7976-BF11-4F70-BF29-EE8D1ED6FA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11f21df464b95"/>
          <a:stretch xmlns:a="http://schemas.openxmlformats.org/drawingml/2006/main"/>
        </p:blipFill>
        <p:spPr>
          <a:xfrm xmlns:a="http://schemas.openxmlformats.org/drawingml/2006/main">
            <a:off x="3778671" y="2047875"/>
            <a:ext cx="1558082" cy="33718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446EC-5053-470E-B3E3-6C3C4266B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fef81c47f4588"/>
          <a:stretch xmlns:a="http://schemas.openxmlformats.org/drawingml/2006/main"/>
        </p:blipFill>
        <p:spPr>
          <a:xfrm xmlns:a="http://schemas.openxmlformats.org/drawingml/2006/main">
            <a:off x="6559971" y="2047875"/>
            <a:ext cx="1558082" cy="3371850"/>
          </a:xfrm>
          <a:prstGeom xmlns:a="http://schemas.openxmlformats.org/drawingml/2006/main" prst="rect">
            <a:avLst/>
          </a:prstGeom>
        </p:spPr>
      </p:pic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87E31843-6AA4-4083-A58D-6F6C3583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今日事项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E17F9BC-EF3C-4BFB-8D08-59E19BE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62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历史会话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96DCBAD9-0425-47B1-84BA-516133BE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62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人物详情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6716C13-02FD-48A9-BC27-0AA702D3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95525"/>
            <a:ext cx="260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四个日常入口</a:t>
            </a:r>
          </a:p>
        </p:txBody>
      </p:sp>
      <p:sp>
        <p:nvSpPr>
          <p:cNvPr id="15" name="text-12">
            <a:extLst xmlns:a="http://schemas.openxmlformats.org/drawingml/2006/main">
              <a:ext uri="{FF2B5EF4-FFF2-40B4-BE49-F238E27FC236}">
                <a16:creationId xmlns:a16="http://schemas.microsoft.com/office/drawing/2014/main" id="{40DB22FD-169D-4924-9F2D-91D813E3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47975"/>
            <a:ext cx="26098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今日、对话</a:t>
            </a:r>
          </a:p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人物与记忆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抽屉互斥，支持键盘关闭与焦点恢复。</a:t>
            </a:r>
          </a:p>
        </p:txBody>
      </p:sp>
    </p:spTree>
    <p:extLst>
      <p:ext uri="{BB962C8B-B14F-4D97-AF65-F5344CB8AC3E}">
        <p14:creationId xmlns:p14="http://schemas.microsoft.com/office/powerpoint/2010/main" val="7733031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DE23DC01-6F75-4404-9E86-8476E00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076BE0E-C3D9-4579-B96F-1ECDCF8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多来源摄入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B2FB58D-04C1-4624-A579-311042A6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文字与附件统一进入解析、抽取和写入流程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0FC7E-7828-4451-A9B8-2BA88959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711A8D5-DE24-468A-AA9B-DAD19075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746AA75-F0C4-4050-AC2D-5C22F0B7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1FAF8CA-3FF4-4AD3-A8DB-A836746B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045D7-AD41-4BD3-8CD2-4ADD9739F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6f9db8a084e90"/>
          <a:stretch xmlns:a="http://schemas.openxmlformats.org/drawingml/2006/main"/>
        </p:blipFill>
        <p:spPr>
          <a:xfrm xmlns:a="http://schemas.openxmlformats.org/drawingml/2006/main">
            <a:off x="609600" y="2117408"/>
            <a:ext cx="3733800" cy="2613660"/>
          </a:xfrm>
          <a:prstGeom xmlns:a="http://schemas.openxmlformats.org/drawingml/2006/main" prst="rect">
            <a:avLst/>
          </a:prstGeom>
        </p:spPr>
      </p:pic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6A59BA5-8738-4682-95FB-8AAE216F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虚构名片输入样例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A5283-FAEA-460E-A18F-6F455E214792}"/>
              </a:ext>
            </a:extLst>
          </p:cNvPr>
          <p:cNvGraphicFramePr/>
          <p:nvPr/>
        </p:nvGraphicFramePr>
        <p:xfrm>
          <a:off xmlns:a="http://schemas.openxmlformats.org/drawingml/2006/main" x="4876800" y="2028825"/>
          <a:ext xmlns:a="http://schemas.openxmlformats.org/drawingml/2006/main" cx="67056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895850"/>
              </a:tblGrid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当前支持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文本与聊天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自然语言记录，按聊天身份解析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截图、名片、收款凭证的视觉转写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Office 与 PDF 文本层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公开网页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 抓取正文与来源 URL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</a:tbl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BC2F683A-9532-43B4-A803-C0996A8B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限制：单次上传 50 MB，PDF 前 50 页文本层，不做扫描 PDF 逐页 OCR</a:t>
            </a:r>
          </a:p>
        </p:txBody>
      </p:sp>
    </p:spTree>
    <p:extLst>
      <p:ext uri="{BB962C8B-B14F-4D97-AF65-F5344CB8AC3E}">
        <p14:creationId xmlns:p14="http://schemas.microsoft.com/office/powerpoint/2010/main" val="145092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8E759C-63A8-4E6D-B83C-3CFBC1DCADA5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05925" y="25431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DD3C9-965C-4206-A822-09D3E8FACC95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29450" y="25431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EC2BD-3F72-41AA-8E24-F0B6E732B2C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52975" y="25431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076E5-BAE6-4C78-B200-FBE50F8BCC1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76500" y="25431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sp>
        <p:nvSpPr>
          <p:cNvPr id="32" name="label-1">
            <a:extLst xmlns:a="http://schemas.openxmlformats.org/drawingml/2006/main">
              <a:ext uri="{FF2B5EF4-FFF2-40B4-BE49-F238E27FC236}">
                <a16:creationId xmlns:a16="http://schemas.microsoft.com/office/drawing/2014/main" id="{2C254220-204B-4250-8BDE-2E0CD511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3AA191B0-6541-4C4D-8585-254E5D91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记录到跟进的产品路径</a:t>
            </a:r>
          </a:p>
        </p:txBody>
      </p:sp>
      <p:sp>
        <p:nvSpPr>
          <p:cNvPr id="3" name="label-3">
            <a:extLst xmlns:a="http://schemas.openxmlformats.org/drawingml/2006/main">
              <a:ext uri="{FF2B5EF4-FFF2-40B4-BE49-F238E27FC236}">
                <a16:creationId xmlns:a16="http://schemas.microsoft.com/office/drawing/2014/main" id="{B8841129-1F0D-40B6-92FA-3CB62BC1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同一份资料形成可核对的记录，并服务后续查询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96EEF81C-1AEF-4CC9-8098-39AF1C87A6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  <a:prstDash val="solid"/>
          </a:ln>
        </p:spPr>
      </p:cxnSp>
      <p:sp>
        <p:nvSpPr>
          <p:cNvPr id="5" name="label-5">
            <a:extLst xmlns:a="http://schemas.openxmlformats.org/drawingml/2006/main">
              <a:ext uri="{FF2B5EF4-FFF2-40B4-BE49-F238E27FC236}">
                <a16:creationId xmlns:a16="http://schemas.microsoft.com/office/drawing/2014/main" id="{BC8235D2-6E27-489B-87FB-2A2D728C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label-6">
            <a:extLst xmlns:a="http://schemas.openxmlformats.org/drawingml/2006/main">
              <a:ext uri="{FF2B5EF4-FFF2-40B4-BE49-F238E27FC236}">
                <a16:creationId xmlns:a16="http://schemas.microsoft.com/office/drawing/2014/main" id="{AE26ECD2-90EE-49FE-96AD-472F27B8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label-7">
            <a:extLst xmlns:a="http://schemas.openxmlformats.org/drawingml/2006/main">
              <a:ext uri="{FF2B5EF4-FFF2-40B4-BE49-F238E27FC236}">
                <a16:creationId xmlns:a16="http://schemas.microsoft.com/office/drawing/2014/main" id="{18A7B979-54A3-4E95-80E0-0628545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8" name="journey-1">
            <a:extLst xmlns:a="http://schemas.openxmlformats.org/drawingml/2006/main">
              <a:ext uri="{FF2B5EF4-FFF2-40B4-BE49-F238E27FC236}">
                <a16:creationId xmlns:a16="http://schemas.microsoft.com/office/drawing/2014/main" id="{A1432E5D-7EF4-4A16-9FA0-E6CF6CCC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9" name="label-9">
            <a:extLst xmlns:a="http://schemas.openxmlformats.org/drawingml/2006/main">
              <a:ext uri="{FF2B5EF4-FFF2-40B4-BE49-F238E27FC236}">
                <a16:creationId xmlns:a16="http://schemas.microsoft.com/office/drawing/2014/main" id="{DD208B80-C170-4D0E-A8C9-D6C15AA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输入资料</a:t>
            </a:r>
          </a:p>
        </p:txBody>
      </p:sp>
      <p:sp>
        <p:nvSpPr>
          <p:cNvPr id="10" name="label-10">
            <a:extLst xmlns:a="http://schemas.openxmlformats.org/drawingml/2006/main">
              <a:ext uri="{FF2B5EF4-FFF2-40B4-BE49-F238E27FC236}">
                <a16:creationId xmlns:a16="http://schemas.microsoft.com/office/drawing/2014/main" id="{DCF069FB-25FD-4A7F-9B34-11350D7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文字与附件</a:t>
            </a:r>
          </a:p>
        </p:txBody>
      </p:sp>
      <p:sp>
        <p:nvSpPr>
          <p:cNvPr id="11" name="journey-2">
            <a:extLst xmlns:a="http://schemas.openxmlformats.org/drawingml/2006/main">
              <a:ext uri="{FF2B5EF4-FFF2-40B4-BE49-F238E27FC236}">
                <a16:creationId xmlns:a16="http://schemas.microsoft.com/office/drawing/2014/main" id="{1AE10B71-C63C-4613-B48B-2C27FF44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95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2" name="label-12">
            <a:extLst xmlns:a="http://schemas.openxmlformats.org/drawingml/2006/main">
              <a:ext uri="{FF2B5EF4-FFF2-40B4-BE49-F238E27FC236}">
                <a16:creationId xmlns:a16="http://schemas.microsoft.com/office/drawing/2014/main" id="{F956A5D7-7EAA-41EE-9672-E7A1C5C2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98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提取候选</a:t>
            </a:r>
          </a:p>
        </p:txBody>
      </p:sp>
      <p:sp>
        <p:nvSpPr>
          <p:cNvPr id="13" name="label-13">
            <a:extLst xmlns:a="http://schemas.openxmlformats.org/drawingml/2006/main">
              <a:ext uri="{FF2B5EF4-FFF2-40B4-BE49-F238E27FC236}">
                <a16:creationId xmlns:a16="http://schemas.microsoft.com/office/drawing/2014/main" id="{C9E65E67-4EB5-42C9-8DFD-96D09033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812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人物与事实</a:t>
            </a:r>
          </a:p>
        </p:txBody>
      </p:sp>
      <p:sp>
        <p:nvSpPr>
          <p:cNvPr id="14" name="journey-3">
            <a:extLst xmlns:a="http://schemas.openxmlformats.org/drawingml/2006/main">
              <a:ext uri="{FF2B5EF4-FFF2-40B4-BE49-F238E27FC236}">
                <a16:creationId xmlns:a16="http://schemas.microsoft.com/office/drawing/2014/main" id="{2FE1384C-35CD-4CBC-93AA-7DD080C0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95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8"/>
          </a:solidFill>
          <a:ln xmlns:a="http://schemas.openxmlformats.org/drawingml/2006/main" w="14288">
            <a:solidFill>
              <a:srgbClr val="9B6030"/>
            </a:solidFill>
          </a:ln>
        </p:spPr>
      </p:sp>
      <p:sp>
        <p:nvSpPr>
          <p:cNvPr id="15" name="label-15">
            <a:extLst xmlns:a="http://schemas.openxmlformats.org/drawingml/2006/main">
              <a:ext uri="{FF2B5EF4-FFF2-40B4-BE49-F238E27FC236}">
                <a16:creationId xmlns:a16="http://schemas.microsoft.com/office/drawing/2014/main" id="{567D273B-BBB6-4A7C-A6FA-0D6F352C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98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确认归属</a:t>
            </a:r>
          </a:p>
        </p:txBody>
      </p:sp>
      <p:sp>
        <p:nvSpPr>
          <p:cNvPr id="16" name="label-16">
            <a:extLst xmlns:a="http://schemas.openxmlformats.org/drawingml/2006/main">
              <a:ext uri="{FF2B5EF4-FFF2-40B4-BE49-F238E27FC236}">
                <a16:creationId xmlns:a16="http://schemas.microsoft.com/office/drawing/2014/main" id="{7D29B864-8F93-4B91-BE01-6A389E07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812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有歧义时处理</a:t>
            </a:r>
          </a:p>
        </p:txBody>
      </p:sp>
      <p:sp>
        <p:nvSpPr>
          <p:cNvPr id="17" name="journey-4">
            <a:extLst xmlns:a="http://schemas.openxmlformats.org/drawingml/2006/main">
              <a:ext uri="{FF2B5EF4-FFF2-40B4-BE49-F238E27FC236}">
                <a16:creationId xmlns:a16="http://schemas.microsoft.com/office/drawing/2014/main" id="{EF12DB22-3C80-4F33-9180-E9947FB5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95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8" name="label-18">
            <a:extLst xmlns:a="http://schemas.openxmlformats.org/drawingml/2006/main">
              <a:ext uri="{FF2B5EF4-FFF2-40B4-BE49-F238E27FC236}">
                <a16:creationId xmlns:a16="http://schemas.microsoft.com/office/drawing/2014/main" id="{4E2B6A65-86E3-42FA-AE97-E4FB83DC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098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人物档案</a:t>
            </a:r>
          </a:p>
        </p:txBody>
      </p:sp>
      <p:sp>
        <p:nvSpPr>
          <p:cNvPr id="19" name="label-19">
            <a:extLst xmlns:a="http://schemas.openxmlformats.org/drawingml/2006/main">
              <a:ext uri="{FF2B5EF4-FFF2-40B4-BE49-F238E27FC236}">
                <a16:creationId xmlns:a16="http://schemas.microsoft.com/office/drawing/2014/main" id="{559EA89D-4515-4C99-A3EA-8C8954F6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812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当前值与历史</a:t>
            </a:r>
          </a:p>
        </p:txBody>
      </p:sp>
      <p:sp>
        <p:nvSpPr>
          <p:cNvPr id="20" name="journey-5">
            <a:extLst xmlns:a="http://schemas.openxmlformats.org/drawingml/2006/main">
              <a:ext uri="{FF2B5EF4-FFF2-40B4-BE49-F238E27FC236}">
                <a16:creationId xmlns:a16="http://schemas.microsoft.com/office/drawing/2014/main" id="{4D6536EA-6AFA-4FF7-8211-F411D053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1" name="label-21">
            <a:extLst xmlns:a="http://schemas.openxmlformats.org/drawingml/2006/main">
              <a:ext uri="{FF2B5EF4-FFF2-40B4-BE49-F238E27FC236}">
                <a16:creationId xmlns:a16="http://schemas.microsoft.com/office/drawing/2014/main" id="{E45CF1CB-1834-4EA5-919E-E3BC642A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098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查询与跟进</a:t>
            </a:r>
          </a:p>
        </p:txBody>
      </p:sp>
      <p:sp>
        <p:nvSpPr>
          <p:cNvPr id="22" name="label-22">
            <a:extLst xmlns:a="http://schemas.openxmlformats.org/drawingml/2006/main">
              <a:ext uri="{FF2B5EF4-FFF2-40B4-BE49-F238E27FC236}">
                <a16:creationId xmlns:a16="http://schemas.microsoft.com/office/drawing/2014/main" id="{2FBA2A46-3848-476B-97BD-84B79470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812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答案与沟通草稿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1A984-D25B-4973-8E4B-8E16DE08F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035ad88b24423"/>
          <a:stretch xmlns:a="http://schemas.openxmlformats.org/drawingml/2006/main"/>
        </p:blipFill>
        <p:spPr>
          <a:xfrm xmlns:a="http://schemas.openxmlformats.org/drawingml/2006/main">
            <a:off x="1120930" y="3476625"/>
            <a:ext cx="3454090" cy="2400300"/>
          </a:xfrm>
          <a:prstGeom xmlns:a="http://schemas.openxmlformats.org/drawingml/2006/main" prst="rect">
            <a:avLst/>
          </a:prstGeom>
        </p:spPr>
      </p:pic>
      <p:sp>
        <p:nvSpPr>
          <p:cNvPr id="28" name="label-27">
            <a:extLst xmlns:a="http://schemas.openxmlformats.org/drawingml/2006/main">
              <a:ext uri="{FF2B5EF4-FFF2-40B4-BE49-F238E27FC236}">
                <a16:creationId xmlns:a16="http://schemas.microsoft.com/office/drawing/2014/main" id="{EF109894-045A-45FA-8E44-FAE706F5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81400"/>
            <a:ext cx="596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名片摄入后的真实回执</a:t>
            </a:r>
          </a:p>
        </p:txBody>
      </p:sp>
      <p:sp>
        <p:nvSpPr>
          <p:cNvPr id="29" name="label-28">
            <a:extLst xmlns:a="http://schemas.openxmlformats.org/drawingml/2006/main">
              <a:ext uri="{FF2B5EF4-FFF2-40B4-BE49-F238E27FC236}">
                <a16:creationId xmlns:a16="http://schemas.microsoft.com/office/drawing/2014/main" id="{8552ABB4-A6D1-43CF-8B70-5F3FA55A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0050"/>
            <a:ext cx="59626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新建人物与四个字段分别返回保存结果。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之后可以在档案中查询，或继续补充信息。</a:t>
            </a:r>
          </a:p>
        </p:txBody>
      </p:sp>
      <p:sp>
        <p:nvSpPr>
          <p:cNvPr id="30" name="label-29">
            <a:extLst xmlns:a="http://schemas.openxmlformats.org/drawingml/2006/main">
              <a:ext uri="{FF2B5EF4-FFF2-40B4-BE49-F238E27FC236}">
                <a16:creationId xmlns:a16="http://schemas.microsoft.com/office/drawing/2014/main" id="{56610C5E-9BB7-487A-BEA7-3C3C3F1E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95900"/>
            <a:ext cx="596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姓名、公司、职位、城市、生日</a:t>
            </a:r>
          </a:p>
        </p:txBody>
      </p:sp>
      <p:sp>
        <p:nvSpPr>
          <p:cNvPr id="31" name="label-30">
            <a:extLst xmlns:a="http://schemas.openxmlformats.org/drawingml/2006/main">
              <a:ext uri="{FF2B5EF4-FFF2-40B4-BE49-F238E27FC236}">
                <a16:creationId xmlns:a16="http://schemas.microsoft.com/office/drawing/2014/main" id="{F7B102CE-2400-43DC-BBDE-23A11A3D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虚构演示资料。已保存表示写入完成，仍需核对语义和人物归属。</a:t>
            </a:r>
          </a:p>
        </p:txBody>
      </p:sp>
    </p:spTree>
    <p:extLst>
      <p:ext uri="{BB962C8B-B14F-4D97-AF65-F5344CB8AC3E}">
        <p14:creationId xmlns:p14="http://schemas.microsoft.com/office/powerpoint/2010/main" val="2398022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15CD387E-EE5A-4F27-A1A7-31F04E16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EA46113-2A95-401C-B28A-55356163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沟通准备与实际结果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4B90A90-6257-437F-AFE3-810BAA3F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生成草稿与真实联系分别记录，结果可以继续形成记忆提案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E4CE9864-A644-4855-B5EF-F8D8A86B6F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</a:ln>
        </p:spPr>
      </p:cxn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4C7BFEB-745E-4274-AE85-15637ACF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1BE3174-E2FC-4BE2-B2FF-9AEA13B6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AED4793-AA33-4B21-9DEA-51102EF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AFD5A-CE67-4269-8921-08D00F3B3E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af6a316014611"/>
          <a:stretch xmlns:a="http://schemas.openxmlformats.org/drawingml/2006/main"/>
        </p:blipFill>
        <p:spPr>
          <a:xfrm xmlns:a="http://schemas.openxmlformats.org/drawingml/2006/main">
            <a:off x="1945864" y="2009775"/>
            <a:ext cx="2280472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959E0E2-4948-4C95-B30C-7C92111C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准备沟通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FB5B0A5-9775-413B-9331-8D5309D9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结合人物与承诺，形成有来源简报和可编辑草稿。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DCA87CD-70C1-46DD-B18E-DE3F3306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确认实际结果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FBBC7B6-7EB4-48E2-9A57-41863772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记录渠道与时间，选择完成承诺或设置下次提醒。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D5D49CB1-402B-4BC6-B947-C1E9F54E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资料回到档案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8D2622E-BCA5-462B-A61C-DF7E9466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另行分析近况与偏好，确认后才更新记忆。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2C3DA39-4512-4143-869A-5756A80F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10852510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F4A44E02-1BBA-4DDA-A870-EE3AE95B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99BDD72-9C73-4F07-83E3-4C2443ED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待确认与保存回执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D6FBD3B-7BB0-4A71-88CF-1F902B67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不确定信息提供核对入口，实际写入结果逐条返回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7E79F-EEAD-4516-B6A4-C5B0FC7E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03C66D5-37ED-4819-B07E-405AE3E4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1FBB940-415B-4F3F-9063-3CB1E2C9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4B33D89-94F6-4239-A6EA-3C1EA9C6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6D2F8-00C1-472A-8A8C-E7A563CDFB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5cf0aac24481b"/>
          <a:stretch xmlns:a="http://schemas.openxmlformats.org/drawingml/2006/main"/>
        </p:blipFill>
        <p:spPr>
          <a:xfrm xmlns:a="http://schemas.openxmlformats.org/drawingml/2006/main">
            <a:off x="1945864" y="2009775"/>
            <a:ext cx="2280472" cy="3810000"/>
          </a:xfrm>
          <a:prstGeom xmlns:a="http://schemas.openxmlformats.org/drawingml/2006/main" prst="rect">
            <a:avLst/>
          </a:prstGeom>
        </p:spPr>
      </p:pic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1FC41AA9-1EBA-44A9-A8D5-362AD3D4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身份与事实核对</a:t>
            </a:r>
          </a:p>
        </p:txBody>
      </p:sp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F6E8174E-44F7-4F4F-A977-5FFB3B1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同名归属、候选字段与收付方向分别确认。</a:t>
            </a:r>
          </a:p>
        </p:txBody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FF682513-1E4D-4640-90CB-A03A4988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真实保存回执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5BDA2EB4-D59C-42B4-9125-A47A5906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已保存、待确认与跳过来自实际处理。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484F61C9-F42C-4429-8ACF-C73CAF27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查询保持只读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D9DC3606-B1E7-4D80-B9BA-B7BEE9E6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分类失败说明未写入，显式分析保留旧决定。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991F3E07-1140-4672-B2CF-4DA52F4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2144037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912D58AD-D036-4CBC-8BAB-71070FDF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86215B2-AE30-4AB4-8A71-83D58A69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沟通后的记忆更新提案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A42AD33-C206-4796-9614-DF896D0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核对原文、当前档案和建议日期，确认后入档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C30446AA-F32C-49A0-AE13-047FB6E62A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</a:ln>
        </p:spPr>
      </p:cxn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78C9231-81CF-4E52-A6A8-7AE8EB4D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343FDB2-2C60-48FC-8CB0-695146EF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5E15B0E-65B2-4F1B-A0A4-45AA044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7DC74-9BE3-47C4-8570-0CEC90A76C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50c07a31840d1"/>
          <a:stretch xmlns:a="http://schemas.openxmlformats.org/drawingml/2006/main"/>
        </p:blipFill>
        <p:spPr>
          <a:xfrm xmlns:a="http://schemas.openxmlformats.org/drawingml/2006/main">
            <a:off x="1945864" y="2009775"/>
            <a:ext cx="2280472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5ACCB7D-F50C-469F-9941-68CA0783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分析只产候选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B352BC7-B602-4DD0-A0C5-5EB14E0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实际结果中的近况与偏好单独分析。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214525F-7202-4F53-BAAF-1B801C88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审阅再写入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05EE4A6-597C-4DD9-A2DF-D2C85ED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可修改内容与生效日期，或丢弃候选。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2B39E8CB-56AD-4658-AD25-C39C995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处理历史可回看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600BFAF4-23B4-400A-9503-EFC79DD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示例含 5 条确认与 1 条丢弃，默认无待审阅。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34E4B70C-CAF3-4695-B0E5-6A3B08E2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4992153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03CDF3A6-8552-43FC-A5FA-E068486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454D6E2-5785-47F8-9A68-277FF4F9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已保存记忆的维护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DFCD55F-8ADC-4F3D-830E-6D0701F6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记忆可以查询来源，也可以修改、撤销与恢复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310D417C-51F4-4E56-BF89-39B7F05DB6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</a:ln>
        </p:spPr>
      </p:cxn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40A220D-FCCA-484A-9A4A-1C62F281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BE0EC38-A64B-4E50-A40A-07D29A53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234DA1D-855B-4291-8136-64AF8631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171A6-DC2E-4C00-A1DC-50732CF415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2235dca1b4697"/>
          <a:stretch xmlns:a="http://schemas.openxmlformats.org/drawingml/2006/main"/>
        </p:blipFill>
        <p:spPr>
          <a:xfrm xmlns:a="http://schemas.openxmlformats.org/drawingml/2006/main">
            <a:off x="1709738" y="2009775"/>
            <a:ext cx="5486400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E47B875-6EE8-4601-8C5A-E0B6F83E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764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统一记忆入口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5E7E73E-5CBC-424E-8F44-40A6503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0507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按人物、类型、状态和关键词筛选。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C05BB2A-88EF-4ED1-871E-42E8EEB6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05175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来源与日期分开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E75C708-4BF0-4412-847D-EE67A33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33800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所标日期、首次录入与人工修改各有依据。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8BC3A6B-09BE-4A53-AF13-D9207E90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53390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维护保留历史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0A4F549B-A229-426A-B3B7-36D55474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6252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修改、转移、撤销和恢复核对版本。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1431339-E3BB-4DF5-ABC5-D8262280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5648549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16F5AC47-E0E0-4F16-8488-4F0DCE27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6C2141B-870E-4C05-B7D5-310D5D47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人物历史与纠错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2522078-8AB0-4B2A-8B19-E4EA9E42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当前值、历史值、来源和修改记录分别保留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C12D9-2A69-46D2-9587-7C1B8D93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4C8D961-6D94-4F4B-B3A2-20308B4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EED205E-243A-4EEC-8B86-6381B271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FE412FD-5620-4593-BD1D-E6846035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BE260-E8D2-4D00-B231-6D685956607C}"/>
              </a:ext>
            </a:extLst>
          </p:cNvPr>
          <p:cNvGraphicFramePr/>
          <p:nvPr/>
        </p:nvGraphicFramePr>
        <p:xfrm>
          <a:off xmlns:a="http://schemas.openxmlformats.org/drawingml/2006/main" x="4876800" y="2028825"/>
          <a:ext xmlns:a="http://schemas.openxmlformats.org/drawingml/2006/main" cx="67056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991100"/>
              </a:tblGrid>
              <a:tr h="6629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629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更新近况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关闭旧有效期，追加新版本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修正归属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编辑、删除或转移当前字段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629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恢复历史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保留原来源，新增当前版本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回看修改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查看前后值、原因与时间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</a:tbl>
          </a:graphicData>
        </a:graphic>
      </p:graphicFrame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C171275-FDB8-4059-9E7E-AA68D83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29275"/>
            <a:ext cx="670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字段按生效与入库时间留历史；独立记忆另有修改、撤销与恢复。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D0D60-2551-4080-A24C-D15082346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07eae2d88435d"/>
          <a:stretch xmlns:a="http://schemas.openxmlformats.org/drawingml/2006/main"/>
        </p:blipFill>
        <p:spPr>
          <a:xfrm xmlns:a="http://schemas.openxmlformats.org/drawingml/2006/main">
            <a:off x="1336264" y="2028825"/>
            <a:ext cx="2280472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862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260ACABD-FF56-4597-8D87-6DAEE9E8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670E4F5-1460-4B9E-80EE-35C680F3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回答引用与变更后的旧答案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0B5B517-B425-4CDE-9FBD-B2B8E247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每条回答保留当时资料快照，并提示当前记录是否变化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EC245624-ED72-4660-8351-91F456004B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</a:ln>
        </p:spPr>
      </p:cxn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0472424-1EE5-42B9-A3EF-CEAB7A23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A163B4A-2EAF-49A4-84D9-9406A000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B72FEBA-DB66-4561-AF49-BB19DD01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1415E-DCAA-44AC-B201-DB9A1E475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1b93137104179"/>
          <a:stretch xmlns:a="http://schemas.openxmlformats.org/drawingml/2006/main"/>
        </p:blipFill>
        <p:spPr>
          <a:xfrm xmlns:a="http://schemas.openxmlformats.org/drawingml/2006/main">
            <a:off x="1709738" y="2009775"/>
            <a:ext cx="5486400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7EAC028-B020-4E67-A15F-79EE5D12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764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当时引用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56BB1CA-0FB6-4F7C-ADC9-BA7FFDF6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0507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引用编号属于该回答，保留当时内容。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09D414B-5112-4D71-9D94-ED283A08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05175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当前记录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4F76DFE-38FD-498D-8E56-C1813E79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33800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修改或撤销后提示变化，不静默改写旧答案。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B7E19FC-693C-4711-B415-41A25FF4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53390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原始依据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E461E824-233E-489F-AD00-E653175A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6252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继续查看原文、附件、日期和处理历史。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86B2086-1671-4AEB-BFFE-46C1C407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来源核对功能截图（0.7），当前统一布局见新版工作台</a:t>
            </a:r>
          </a:p>
        </p:txBody>
      </p:sp>
    </p:spTree>
    <p:extLst>
      <p:ext uri="{BB962C8B-B14F-4D97-AF65-F5344CB8AC3E}">
        <p14:creationId xmlns:p14="http://schemas.microsoft.com/office/powerpoint/2010/main" val="12835417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2D556E97-0D93-4C49-9144-B0BE52ED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2A2CFD4-B520-4070-9668-199FBF9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承诺与提醒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662CDC5-418D-4A9C-9DF0-89C2576C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把“谁答应了什么”转成可回顾的事项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294E4-5050-43BD-A4E8-E2B32D36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A8886F5-0529-460D-8112-51609803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E12247D-ED16-493D-9CBA-F1A6D377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724C8DC-368A-4D72-BA07-B54CD22D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AEE55-4E47-4FDF-BC42-E504B5049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b9c6bc590485d"/>
          <a:stretch xmlns:a="http://schemas.openxmlformats.org/drawingml/2006/main"/>
        </p:blipFill>
        <p:spPr>
          <a:xfrm xmlns:a="http://schemas.openxmlformats.org/drawingml/2006/main">
            <a:off x="1945864" y="2009775"/>
            <a:ext cx="2280472" cy="3810000"/>
          </a:xfrm>
          <a:prstGeom xmlns:a="http://schemas.openxmlformats.org/drawingml/2006/main" prst="rect">
            <a:avLst/>
          </a:prstGeom>
        </p:spPr>
      </p:pic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3CF72914-1AAF-4DEF-A022-2CDFA7B8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责任方向</a:t>
            </a:r>
          </a:p>
        </p:txBody>
      </p:sp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1F721C0B-B4E1-464C-9E77-04B47830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区分自己答应和对方答应的事项。</a:t>
            </a:r>
          </a:p>
        </p:txBody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524090FA-8721-4FC7-BA35-9BDBBDB9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日期与状态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92997D48-73A0-4ECA-BDB0-5037209C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到期时间和未完成状态保持可查。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A4D31832-8E20-462E-B49F-4BA03174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关联提醒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B3D5D783-CBA4-4FB8-9A42-8CB4A83F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完成承诺后关闭未触发的关联提醒。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AB15776F-07A4-48B0-BFCE-BBA2D994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7552591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601EFC5D-91D1-4A00-8E90-5CBC1E35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7148CA3-BCF7-4729-AEB2-D5AEFDB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往来账本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197B927-BB3D-44D4-A876-87B5C935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收付方向和金额需要有明确依据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26C32-CF5D-472C-9F49-E6599E1A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0D49704-2E48-4199-BA14-0DFC0DC1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ED9DEE8-A6A3-4FF3-AEC1-628F0B31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C334755-64DD-407A-BF1C-FA22C0E7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AA8B2-2953-4CAC-86AA-E4BC559D6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54bdb30744d95"/>
          <a:stretch xmlns:a="http://schemas.openxmlformats.org/drawingml/2006/main"/>
        </p:blipFill>
        <p:spPr>
          <a:xfrm xmlns:a="http://schemas.openxmlformats.org/drawingml/2006/main">
            <a:off x="1945864" y="2009775"/>
            <a:ext cx="2280472" cy="3810000"/>
          </a:xfrm>
          <a:prstGeom xmlns:a="http://schemas.openxmlformats.org/drawingml/2006/main" prst="rect">
            <a:avLst/>
          </a:prstGeom>
        </p:spPr>
      </p:pic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7203CD5D-A188-4A50-A40A-088B49C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确认后汇总</a:t>
            </a:r>
          </a:p>
        </p:txBody>
      </p:sp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DEF7D092-5914-47F5-9E1B-F2D3AFC9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仅已确认、未撤销的收付计入金额。</a:t>
            </a:r>
          </a:p>
        </p:txBody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2DCC9A71-C0F1-4813-81EE-42A943B8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不明方向待核对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C181F705-42A6-4F02-AA82-7C272994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原文不足时先选择收到或付出。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6B9FD05D-5EF3-4040-A47C-A3B785F5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纠错与来源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9BD2EC7C-5E55-429D-B2A0-F0A615E5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修改、撤销和原始凭证分别保留。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AC116978-BCCD-4918-AAA0-A8929FF4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10370111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">
            <a:extLst xmlns:a="http://schemas.openxmlformats.org/drawingml/2006/main">
              <a:ext uri="{FF2B5EF4-FFF2-40B4-BE49-F238E27FC236}">
                <a16:creationId xmlns:a16="http://schemas.microsoft.com/office/drawing/2014/main" id="{806BD5CE-55AF-4B96-BA3E-801C64D0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52D61BF-4182-4F1A-ACB8-DEC12AD4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项目与沟通技能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4956549-0FDF-4E79-888F-177EF64C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合作事项组织上下文，沟通步骤可以重复使用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1F6F8-C095-4BB4-AE1C-40194B95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C378EF7-1FE2-490D-B001-8E70718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400B63E-DBBC-4863-8811-8DE77032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F302114-0CF0-4C9D-9CCE-88006DFB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B219A-76CE-449E-89AA-C00C525974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ef883bd33400f"/>
          <a:stretch xmlns:a="http://schemas.openxmlformats.org/drawingml/2006/main"/>
        </p:blipFill>
        <p:spPr>
          <a:xfrm xmlns:a="http://schemas.openxmlformats.org/drawingml/2006/main">
            <a:off x="1207677" y="2000250"/>
            <a:ext cx="2280472" cy="3810000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6AB98-4A4F-4315-91AE-236024383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acdcd73ec4474"/>
          <a:stretch xmlns:a="http://schemas.openxmlformats.org/drawingml/2006/main"/>
        </p:blipFill>
        <p:spPr>
          <a:xfrm xmlns:a="http://schemas.openxmlformats.org/drawingml/2006/main">
            <a:off x="4884327" y="2000250"/>
            <a:ext cx="2280472" cy="3810000"/>
          </a:xfrm>
          <a:prstGeom xmlns:a="http://schemas.openxmlformats.org/drawingml/2006/main" prst="rect">
            <a:avLst/>
          </a:prstGeom>
        </p:spPr>
      </p:pic>
      <p:sp>
        <p:nvSpPr>
          <p:cNvPr id="17" name="text-8">
            <a:extLst xmlns:a="http://schemas.openxmlformats.org/drawingml/2006/main">
              <a:ext uri="{FF2B5EF4-FFF2-40B4-BE49-F238E27FC236}">
                <a16:creationId xmlns:a16="http://schemas.microsoft.com/office/drawing/2014/main" id="{83B4C6A4-C929-4845-8AB7-BE3B6C8F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9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项目</a:t>
            </a:r>
          </a:p>
        </p:txBody>
      </p:sp>
      <p:sp>
        <p:nvSpPr>
          <p:cNvPr id="18" name="text-9">
            <a:extLst xmlns:a="http://schemas.openxmlformats.org/drawingml/2006/main">
              <a:ext uri="{FF2B5EF4-FFF2-40B4-BE49-F238E27FC236}">
                <a16:creationId xmlns:a16="http://schemas.microsoft.com/office/drawing/2014/main" id="{8C4EB488-684B-49C2-AB95-EAA94774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3390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围绕合作组织人物和会话。</a:t>
            </a:r>
          </a:p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问答使用项目名称与说明。</a:t>
            </a:r>
          </a:p>
        </p:txBody>
      </p:sp>
      <p:sp>
        <p:nvSpPr>
          <p:cNvPr id="19" name="text-10">
            <a:extLst xmlns:a="http://schemas.openxmlformats.org/drawingml/2006/main">
              <a:ext uri="{FF2B5EF4-FFF2-40B4-BE49-F238E27FC236}">
                <a16:creationId xmlns:a16="http://schemas.microsoft.com/office/drawing/2014/main" id="{3DE87EA1-C558-4526-87F9-7FCA6D90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339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沟通技能</a:t>
            </a:r>
          </a:p>
        </p:txBody>
      </p:sp>
      <p:sp>
        <p:nvSpPr>
          <p:cNvPr id="20" name="text-11">
            <a:extLst xmlns:a="http://schemas.openxmlformats.org/drawingml/2006/main">
              <a:ext uri="{FF2B5EF4-FFF2-40B4-BE49-F238E27FC236}">
                <a16:creationId xmlns:a16="http://schemas.microsoft.com/office/drawing/2014/main" id="{EB5422CA-02DE-4DA2-BAC7-FC1BE6FE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33909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保存步骤和语气，支持导入导出及 /技能名 调用。</a:t>
            </a:r>
          </a:p>
        </p:txBody>
      </p:sp>
      <p:sp>
        <p:nvSpPr>
          <p:cNvPr id="21" name="text-12">
            <a:extLst xmlns:a="http://schemas.openxmlformats.org/drawingml/2006/main">
              <a:ext uri="{FF2B5EF4-FFF2-40B4-BE49-F238E27FC236}">
                <a16:creationId xmlns:a16="http://schemas.microsoft.com/office/drawing/2014/main" id="{2B7B9092-BA98-4D86-8CA7-47365714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9784745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84C61F22-2681-40AC-8F4D-D8201CE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EFCAA07-71F6-4DC0-81E3-93289BC3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关系星图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0CD2644-1036-4FC5-A24B-9279097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从单个人物扩展到人物之间的联系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735F3-74D5-48AA-B013-6BC093A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607B485-A36A-413C-87CD-F9E2E58C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B818A7D-EFB6-49EB-BE0E-9C5843CA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380E3E5-7C89-4DC8-B0CD-7874A21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4A91C-6777-4B20-80C3-346AD1DED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9d638343b43e8"/>
          <a:stretch xmlns:a="http://schemas.openxmlformats.org/drawingml/2006/main"/>
        </p:blipFill>
        <p:spPr>
          <a:xfrm xmlns:a="http://schemas.openxmlformats.org/drawingml/2006/main">
            <a:off x="2786063" y="2009775"/>
            <a:ext cx="3333750" cy="3810000"/>
          </a:xfrm>
          <a:prstGeom xmlns:a="http://schemas.openxmlformats.org/drawingml/2006/main" prst="rect">
            <a:avLst/>
          </a:prstGeom>
        </p:spPr>
      </p:pic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EAF44003-11C3-497A-8E52-849DA62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764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现有关系浏览</a:t>
            </a:r>
          </a:p>
        </p:txBody>
      </p:sp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F1DF4CF4-72FC-4D58-B63F-023D1836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0507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平面与立体视图均保留。</a:t>
            </a:r>
          </a:p>
        </p:txBody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DAF9000A-BDE0-4549-A271-8C80C9FB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05175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打开人物档案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41D71ED3-1889-433C-9016-5ED80B7E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33800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点击人物后进入独立详情。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62BCED07-6E5B-48C5-97FF-0A123480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53390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导航入口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6A0375C8-9258-4233-823E-1CA8147D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6252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探索与工具内的关系星图。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AB1DF96B-E832-4069-884D-823B21C0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2596459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D240E913-8FE5-4F39-9847-2C7BFFE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02  产品功能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F8FEE12-1CC4-44D2-B29F-ACA59FA3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一个合作跟进场景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D908B1D-191C-452A-ADCF-4E8F171B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虚构示例，展示准备、实际结果与记忆更新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3C7FB-DA56-4B7D-9C09-911DBA88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6BD15C7-F7CA-4FB7-AA44-DF19CB86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AE913B0-7202-45F9-B70E-993181C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7C09E59-B93B-4717-BFDA-C1FFE4A7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5A2BF-C64B-4691-807E-8CC9C9E02417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4857750"/>
                <a:gridCol w="4543425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输入或问题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系统支持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记录核对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张晨在星桥软件，我答应周五发方案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提取字段与承诺候选，遇同名待确认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今日跟进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到期方案需要跟进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查看原因与来源，带入沟通目标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准备沟通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最近聊了什么，草稿怎么写？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有来源简报和草稿，编辑后自行发送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记录结果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今天已沟通，方案已发出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确认联系、完成承诺和下次提醒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记忆更新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对方提到换了公司和沟通偏好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分析结果，审阅提案后更新档案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0170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70BBBF5E-8926-42FF-8E0D-422280C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03  产品参照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3F4EE2C-ED36-4260-AD49-3DAFBCD2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home、Mars 与 Muse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1DE45DB-2F2B-4B23-9CEB-0F13881C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比较关注重点，公开能力存在重叠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50E0E-2A8C-442F-A7C9-BC567972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7FE2736-28FE-4BDC-BEF3-ACC6E3E3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629A380-5211-4FD1-A376-F8B14DA0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EF5997B-24B2-415D-B7B2-524E39CC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EB27E-96E5-494C-AFB0-480232B5107B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3143250"/>
                <a:gridCol w="3143250"/>
                <a:gridCol w="3114675"/>
              </a:tblGrid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home 当前实现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Mars 公开定位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Muse 公开定位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主要工作对象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人物与关系背景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关系维护与沟通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个人任务与持续目标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典型价值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档案、确认、承诺、往来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记忆关系，支持沟通与行动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委派任务，跟踪执行与产物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运行与执行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本地单用户，专用工具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公开介绍也包含研究、技能和浏览器能力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个人执行环境，Goals 与 Activity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对项目的启发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先保证人物和事实可靠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产品工作流的直接参照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任务状态、权限与持续执行机制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</a:tbl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683C989-50DE-4532-89CE-E7E8DF6E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竞品公开资料沿用 2026-10-16 核对，未开展登录后的完整体验对比</a:t>
            </a:r>
          </a:p>
        </p:txBody>
      </p:sp>
    </p:spTree>
    <p:extLst>
      <p:ext uri="{BB962C8B-B14F-4D97-AF65-F5344CB8AC3E}">
        <p14:creationId xmlns:p14="http://schemas.microsoft.com/office/powerpoint/2010/main" val="6474529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E8C14BA2-1471-45CF-9B52-D2DA7959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04  系统架构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51E7BBC-005C-4894-B538-3331EA0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总体架构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2884A72-0763-43FB-83E1-85D357C7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一个服务连接 Web 工作台、模型 API 与本地存储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4FBC1-4F3A-434F-BFC9-7A8BF9F0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7687013-0B2E-4E31-AD1E-9710FEE8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0A0CC74-3CB8-4283-BF05-ACF9CE6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F7AB261-2A31-45CD-8C7E-AE9ED85B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FC9C6-55E6-4420-8941-1E987451072B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857750"/>
                <a:gridCol w="4400550"/>
              </a:tblGrid>
              <a:tr h="6508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主要组件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508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交互与接口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JS / CSS，FastAPI，SSE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页面、API、流式响应与任务进度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任务与摄入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SQLite 任务，3 线程池，解析与转写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接收文件，调度后台工作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508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记忆与治理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抽取、确认、提案、纠错与来源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保存候选、审阅入档、版本与审计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对话与沟通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检索、Agent、沟通闭环与研究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约束读写、核对引用、支持跟进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5087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数据与模型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SQLite WAL，SHA-256 附件，模型网关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持久记录、原始资料和外部推理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6522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3E701B-ECB0-45BD-8698-C80B3393BCED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239125" y="423386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A82180-5372-4837-B537-E62AA0847020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238625" y="54054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2D1B5E-59C9-4C08-908A-48B98774F594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2571750" y="4648200"/>
            <a:ext cx="2000250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D88D6E-EFB0-4D69-B957-68A8044C09ED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572000" y="3381375"/>
            <a:ext cx="2381250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B77568-2425-40F6-9DC1-9258A1E1CE4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095875" y="2976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8D43A-98B4-439E-B778-A6FAC6BC70E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714625" y="2976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sp>
        <p:nvSpPr>
          <p:cNvPr id="8" name="local-application-boundary">
            <a:extLst xmlns:a="http://schemas.openxmlformats.org/drawingml/2006/main">
              <a:ext uri="{FF2B5EF4-FFF2-40B4-BE49-F238E27FC236}">
                <a16:creationId xmlns:a16="http://schemas.microsoft.com/office/drawing/2014/main" id="{FCD8BF8B-AC17-4807-A7FD-D71A5971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7953375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736A"/>
            </a:solidFill>
            <a:prstDash val="dash"/>
          </a:ln>
        </p:spPr>
      </p:sp>
      <p:sp>
        <p:nvSpPr>
          <p:cNvPr id="37" name="label-1">
            <a:extLst xmlns:a="http://schemas.openxmlformats.org/drawingml/2006/main">
              <a:ext uri="{FF2B5EF4-FFF2-40B4-BE49-F238E27FC236}">
                <a16:creationId xmlns:a16="http://schemas.microsoft.com/office/drawing/2014/main" id="{8AF771D5-20E9-46E2-85C4-4F157D7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04  系统架构</a:t>
            </a:r>
          </a:p>
        </p:txBody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FF10E9ED-6EDF-4A41-8184-2FCEBD8D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系统架构图</a:t>
            </a:r>
          </a:p>
        </p:txBody>
      </p:sp>
      <p:sp>
        <p:nvSpPr>
          <p:cNvPr id="3" name="label-3">
            <a:extLst xmlns:a="http://schemas.openxmlformats.org/drawingml/2006/main">
              <a:ext uri="{FF2B5EF4-FFF2-40B4-BE49-F238E27FC236}">
                <a16:creationId xmlns:a16="http://schemas.microsoft.com/office/drawing/2014/main" id="{B5B8BA9D-CE85-4D2D-B6E0-69D55C83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本机应用负责资料与任务，配置的模型 API 负责推理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81D2D071-B254-441D-BC30-A61BD2B85F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  <a:prstDash val="solid"/>
          </a:ln>
        </p:spPr>
      </p:cxnSp>
      <p:sp>
        <p:nvSpPr>
          <p:cNvPr id="5" name="label-5">
            <a:extLst xmlns:a="http://schemas.openxmlformats.org/drawingml/2006/main">
              <a:ext uri="{FF2B5EF4-FFF2-40B4-BE49-F238E27FC236}">
                <a16:creationId xmlns:a16="http://schemas.microsoft.com/office/drawing/2014/main" id="{8974F576-B500-4120-96A0-E911BF7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label-6">
            <a:extLst xmlns:a="http://schemas.openxmlformats.org/drawingml/2006/main">
              <a:ext uri="{FF2B5EF4-FFF2-40B4-BE49-F238E27FC236}">
                <a16:creationId xmlns:a16="http://schemas.microsoft.com/office/drawing/2014/main" id="{C40CD72C-0DE2-49C9-8217-D2DC2079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label-7">
            <a:extLst xmlns:a="http://schemas.openxmlformats.org/drawingml/2006/main">
              <a:ext uri="{FF2B5EF4-FFF2-40B4-BE49-F238E27FC236}">
                <a16:creationId xmlns:a16="http://schemas.microsoft.com/office/drawing/2014/main" id="{D701D33E-2AB4-4806-B4E5-18B486BF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sp>
        <p:nvSpPr>
          <p:cNvPr id="9" name="label-9">
            <a:extLst xmlns:a="http://schemas.openxmlformats.org/drawingml/2006/main">
              <a:ext uri="{FF2B5EF4-FFF2-40B4-BE49-F238E27FC236}">
                <a16:creationId xmlns:a16="http://schemas.microsoft.com/office/drawing/2014/main" id="{EB1C08A7-514F-4770-BA96-CF8DC51A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本机单用户应用</a:t>
            </a:r>
          </a:p>
        </p:txBody>
      </p:sp>
      <p:sp>
        <p:nvSpPr>
          <p:cNvPr id="10" name="architecture-web">
            <a:extLst xmlns:a="http://schemas.openxmlformats.org/drawingml/2006/main">
              <a:ext uri="{FF2B5EF4-FFF2-40B4-BE49-F238E27FC236}">
                <a16:creationId xmlns:a16="http://schemas.microsoft.com/office/drawing/2014/main" id="{60C2C3E1-ADE0-4508-A7D7-3FEADE32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809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1" name="label-11">
            <a:extLst xmlns:a="http://schemas.openxmlformats.org/drawingml/2006/main">
              <a:ext uri="{FF2B5EF4-FFF2-40B4-BE49-F238E27FC236}">
                <a16:creationId xmlns:a16="http://schemas.microsoft.com/office/drawing/2014/main" id="{43351EAC-086C-4A0E-878F-A048B080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86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Web 工作台</a:t>
            </a:r>
          </a:p>
        </p:txBody>
      </p:sp>
      <p:sp>
        <p:nvSpPr>
          <p:cNvPr id="12" name="label-12">
            <a:extLst xmlns:a="http://schemas.openxmlformats.org/drawingml/2006/main">
              <a:ext uri="{FF2B5EF4-FFF2-40B4-BE49-F238E27FC236}">
                <a16:creationId xmlns:a16="http://schemas.microsoft.com/office/drawing/2014/main" id="{036D9A97-3CB3-4109-8D7A-82096D72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5752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浏览器界面</a:t>
            </a:r>
          </a:p>
        </p:txBody>
      </p:sp>
      <p:sp>
        <p:nvSpPr>
          <p:cNvPr id="13" name="architecture-api">
            <a:extLst xmlns:a="http://schemas.openxmlformats.org/drawingml/2006/main">
              <a:ext uri="{FF2B5EF4-FFF2-40B4-BE49-F238E27FC236}">
                <a16:creationId xmlns:a16="http://schemas.microsoft.com/office/drawing/2014/main" id="{0BE674B6-678F-4F12-8D50-4169C776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1809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4" name="label-14">
            <a:extLst xmlns:a="http://schemas.openxmlformats.org/drawingml/2006/main">
              <a:ext uri="{FF2B5EF4-FFF2-40B4-BE49-F238E27FC236}">
                <a16:creationId xmlns:a16="http://schemas.microsoft.com/office/drawing/2014/main" id="{B22CCEE5-F9B4-4319-8F3A-1F18BE1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FastAPI</a:t>
            </a:r>
          </a:p>
        </p:txBody>
      </p:sp>
      <p:sp>
        <p:nvSpPr>
          <p:cNvPr id="15" name="label-15">
            <a:extLst xmlns:a="http://schemas.openxmlformats.org/drawingml/2006/main">
              <a:ext uri="{FF2B5EF4-FFF2-40B4-BE49-F238E27FC236}">
                <a16:creationId xmlns:a16="http://schemas.microsoft.com/office/drawing/2014/main" id="{A5CF10BD-5D9F-4346-A887-91D766A0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57525"/>
            <a:ext cx="1581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HTTP / SSE</a:t>
            </a:r>
          </a:p>
        </p:txBody>
      </p:sp>
      <p:sp>
        <p:nvSpPr>
          <p:cNvPr id="16" name="architecture-task">
            <a:extLst xmlns:a="http://schemas.openxmlformats.org/drawingml/2006/main">
              <a:ext uri="{FF2B5EF4-FFF2-40B4-BE49-F238E27FC236}">
                <a16:creationId xmlns:a16="http://schemas.microsoft.com/office/drawing/2014/main" id="{803C3D86-97DB-496D-85C8-51B057D8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717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7" name="label-17">
            <a:extLst xmlns:a="http://schemas.openxmlformats.org/drawingml/2006/main">
              <a:ext uri="{FF2B5EF4-FFF2-40B4-BE49-F238E27FC236}">
                <a16:creationId xmlns:a16="http://schemas.microsoft.com/office/drawing/2014/main" id="{5931513E-717F-4DD0-8926-BF1F3627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860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持久任务执行器</a:t>
            </a:r>
          </a:p>
        </p:txBody>
      </p:sp>
      <p:sp>
        <p:nvSpPr>
          <p:cNvPr id="18" name="label-18">
            <a:extLst xmlns:a="http://schemas.openxmlformats.org/drawingml/2006/main">
              <a:ext uri="{FF2B5EF4-FFF2-40B4-BE49-F238E27FC236}">
                <a16:creationId xmlns:a16="http://schemas.microsoft.com/office/drawing/2014/main" id="{60F324D9-637E-4216-B8E9-B9BCEE41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57525"/>
            <a:ext cx="2343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本地 3 线程池</a:t>
            </a:r>
          </a:p>
        </p:txBody>
      </p:sp>
      <p:sp>
        <p:nvSpPr>
          <p:cNvPr id="19" name="architecture-workflows">
            <a:extLst xmlns:a="http://schemas.openxmlformats.org/drawingml/2006/main">
              <a:ext uri="{FF2B5EF4-FFF2-40B4-BE49-F238E27FC236}">
                <a16:creationId xmlns:a16="http://schemas.microsoft.com/office/drawing/2014/main" id="{958F83E1-90CE-43A3-A85D-1063444C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9525"/>
            <a:ext cx="7334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0" name="label-20">
            <a:extLst xmlns:a="http://schemas.openxmlformats.org/drawingml/2006/main">
              <a:ext uri="{FF2B5EF4-FFF2-40B4-BE49-F238E27FC236}">
                <a16:creationId xmlns:a16="http://schemas.microsoft.com/office/drawing/2014/main" id="{4467B3A7-3B7F-47E3-A472-EA67ABCF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33825"/>
            <a:ext cx="7105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摄入与转写      受约束对话      沟通闭环与研究</a:t>
            </a:r>
          </a:p>
        </p:txBody>
      </p:sp>
      <p:sp>
        <p:nvSpPr>
          <p:cNvPr id="21" name="label-21">
            <a:extLst xmlns:a="http://schemas.openxmlformats.org/drawingml/2006/main">
              <a:ext uri="{FF2B5EF4-FFF2-40B4-BE49-F238E27FC236}">
                <a16:creationId xmlns:a16="http://schemas.microsoft.com/office/drawing/2014/main" id="{354A731B-41E8-44E1-AE4D-60D28C72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05300"/>
            <a:ext cx="7105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解析、范围与读写守卫、结果提案与来源核对</a:t>
            </a:r>
          </a:p>
        </p:txBody>
      </p:sp>
      <p:sp>
        <p:nvSpPr>
          <p:cNvPr id="22" name="architecture-memory">
            <a:extLst xmlns:a="http://schemas.openxmlformats.org/drawingml/2006/main">
              <a:ext uri="{FF2B5EF4-FFF2-40B4-BE49-F238E27FC236}">
                <a16:creationId xmlns:a16="http://schemas.microsoft.com/office/drawing/2014/main" id="{173E7EB3-FD49-4C3D-B24E-DB0F879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3333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3" name="label-23">
            <a:extLst xmlns:a="http://schemas.openxmlformats.org/drawingml/2006/main">
              <a:ext uri="{FF2B5EF4-FFF2-40B4-BE49-F238E27FC236}">
                <a16:creationId xmlns:a16="http://schemas.microsoft.com/office/drawing/2014/main" id="{FA23D823-71A4-4169-8E2B-AAA50C78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72075"/>
            <a:ext cx="3105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统一写入与检索</a:t>
            </a:r>
          </a:p>
        </p:txBody>
      </p:sp>
      <p:sp>
        <p:nvSpPr>
          <p:cNvPr id="24" name="architecture-store">
            <a:extLst xmlns:a="http://schemas.openxmlformats.org/drawingml/2006/main">
              <a:ext uri="{FF2B5EF4-FFF2-40B4-BE49-F238E27FC236}">
                <a16:creationId xmlns:a16="http://schemas.microsoft.com/office/drawing/2014/main" id="{E5629FAE-90E8-4DDE-89F0-691BCA15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95875"/>
            <a:ext cx="3333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5" name="label-25">
            <a:extLst xmlns:a="http://schemas.openxmlformats.org/drawingml/2006/main">
              <a:ext uri="{FF2B5EF4-FFF2-40B4-BE49-F238E27FC236}">
                <a16:creationId xmlns:a16="http://schemas.microsoft.com/office/drawing/2014/main" id="{4A5E13E9-55E6-471B-9101-85A97F53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172075"/>
            <a:ext cx="3105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SQLite 与原始附件</a:t>
            </a:r>
          </a:p>
        </p:txBody>
      </p:sp>
      <p:sp>
        <p:nvSpPr>
          <p:cNvPr id="26" name="architecture-external-api">
            <a:extLst xmlns:a="http://schemas.openxmlformats.org/drawingml/2006/main">
              <a:ext uri="{FF2B5EF4-FFF2-40B4-BE49-F238E27FC236}">
                <a16:creationId xmlns:a16="http://schemas.microsoft.com/office/drawing/2014/main" id="{97709D28-84B4-4941-94C3-E1003436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05225"/>
            <a:ext cx="23431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4288">
            <a:solidFill>
              <a:srgbClr val="2B5F7D"/>
            </a:solidFill>
          </a:ln>
        </p:spPr>
      </p:sp>
      <p:sp>
        <p:nvSpPr>
          <p:cNvPr id="27" name="label-27">
            <a:extLst xmlns:a="http://schemas.openxmlformats.org/drawingml/2006/main">
              <a:ext uri="{FF2B5EF4-FFF2-40B4-BE49-F238E27FC236}">
                <a16:creationId xmlns:a16="http://schemas.microsoft.com/office/drawing/2014/main" id="{7B795B1F-228B-4185-97AD-CB695B07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19525"/>
            <a:ext cx="2114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rPr>
              <a:t>配置的模型 API</a:t>
            </a:r>
          </a:p>
        </p:txBody>
      </p:sp>
      <p:sp>
        <p:nvSpPr>
          <p:cNvPr id="28" name="label-28">
            <a:extLst xmlns:a="http://schemas.openxmlformats.org/drawingml/2006/main">
              <a:ext uri="{FF2B5EF4-FFF2-40B4-BE49-F238E27FC236}">
                <a16:creationId xmlns:a16="http://schemas.microsoft.com/office/drawing/2014/main" id="{004D6815-C68C-4249-AF8F-B7508025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910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文本与图片推理</a:t>
            </a:r>
          </a:p>
        </p:txBody>
      </p:sp>
      <p:sp>
        <p:nvSpPr>
          <p:cNvPr id="35" name="label-35">
            <a:extLst xmlns:a="http://schemas.openxmlformats.org/drawingml/2006/main">
              <a:ext uri="{FF2B5EF4-FFF2-40B4-BE49-F238E27FC236}">
                <a16:creationId xmlns:a16="http://schemas.microsoft.com/office/drawing/2014/main" id="{AD11BD75-2DCF-4DB2-8732-3C245BEA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48250"/>
            <a:ext cx="2619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rPr>
              <a:t>相关文本和图片</a:t>
            </a:r>
          </a:p>
          <a:p xmlns:a="http://schemas.openxmlformats.org/drawingml/2006/main">
            <a:pPr algn="l">
              <a:buNone/>
              <a:def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2B5F7D"/>
                </a:solidFill>
                <a:latin typeface="Hiragino Sans GB"/>
                <a:ea typeface="Hiragino Sans GB"/>
                <a:cs typeface="Hiragino Sans GB"/>
              </a:rPr>
              <a:t>发送至配置的网关</a:t>
            </a:r>
          </a:p>
        </p:txBody>
      </p:sp>
      <p:sp>
        <p:nvSpPr>
          <p:cNvPr id="36" name="label-36">
            <a:extLst xmlns:a="http://schemas.openxmlformats.org/drawingml/2006/main">
              <a:ext uri="{FF2B5EF4-FFF2-40B4-BE49-F238E27FC236}">
                <a16:creationId xmlns:a16="http://schemas.microsoft.com/office/drawing/2014/main" id="{5138AF90-7CD9-44C7-B3A2-34C5F85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虚线表示本机边界，服务停止后不执行后台任务。</a:t>
            </a:r>
          </a:p>
        </p:txBody>
      </p:sp>
    </p:spTree>
    <p:extLst>
      <p:ext uri="{BB962C8B-B14F-4D97-AF65-F5344CB8AC3E}">
        <p14:creationId xmlns:p14="http://schemas.microsoft.com/office/powerpoint/2010/main" val="16474886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9E60B684-DDAC-49F0-9A5A-1FCFF363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04  系统架构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8678DDC-7777-444B-8EF2-1A429FE5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核心数据对象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D7AF4C4-0794-474B-85F2-073E923D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人物状态、真实联系、提案与审计共同保存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A1D48-8905-493C-ACFF-C6DB55AF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2A40ED5-88C3-413F-99DF-C2270C60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8F3E128-2DBC-4A14-A9AA-7A74143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A0015E6-29A6-4881-A8D0-F267E630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78DA5-A6CE-4381-985E-F3A5A95692FA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429000"/>
                <a:gridCol w="3543300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使用价值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person / alias / field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身份、可重名别名、字段历史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人物归属与当前状态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interaction / memory_item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区分资料与实际联系，保存记忆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回忆、检索与联系口径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followup / promise / ledger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沟通结果、承诺与收付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确认联系与后续行动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evidence / pending / correction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来源、提案、修改前后值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审阅、版本核对与追溯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project / skill / journal / task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项目、方法、日志、执行状态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组织工作和阶段沉淀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5996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C698105E-A52B-4A1D-97A2-97C67435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04  记忆架构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4E55DEC-79CE-49B0-9B96-60E6B217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记忆写入与守卫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4FB0CFD-B0E4-4FB1-B9D4-6BA252B7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对话先判读写，主要事实写入复用 apply 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CBBF4-5AAC-44D5-9A51-EA81C03A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EFB4393-FFA0-42CB-AC91-DAAAC08E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3D5CD0A-3553-49C0-AAFA-CD1B5D35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1A7EA9B-DBD9-41A3-834B-95B7193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0EA12-1B85-47DF-9000-746BC8BC6060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286375"/>
                <a:gridCol w="3876675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主要控制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对话门控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只对批准的记事原文抽取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查询或分类失败只读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抽取校验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校验结构、置信度、金额与角色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过滤不合理候选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匹配与分档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解析身份，核对来源与阈值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自动写入、待确认或跳过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事务与去重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逐条 SAVEPOINT，幂等与内容去重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局部失败隔离，避免重复记录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结果反馈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保存资料记录，返回实际处理回执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回答依据实际写入结果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748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B2E80E-FC3D-40CD-956A-FD3CD7C4406D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581900" y="4933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  <a:tailEnd type="triangle" w="med" len="med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4EA264-642B-417B-99FD-51A7EF6C39B1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3581400" y="4933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043738-DBFF-44F4-A893-4B00701D9D6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572375" y="2590800"/>
            <a:ext cx="10001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5A467D-D06B-4CA9-A825-22B3683D1CF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419725" y="2590800"/>
            <a:ext cx="7239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16AB4A-B7ED-4AD1-A801-AE6BF1D7439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14600" y="25908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sp>
        <p:nvSpPr>
          <p:cNvPr id="61" name="label-1">
            <a:extLst xmlns:a="http://schemas.openxmlformats.org/drawingml/2006/main">
              <a:ext uri="{FF2B5EF4-FFF2-40B4-BE49-F238E27FC236}">
                <a16:creationId xmlns:a16="http://schemas.microsoft.com/office/drawing/2014/main" id="{3A931C1D-911F-4C64-BF86-59E82446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04  记忆架构</a:t>
            </a:r>
          </a:p>
        </p:txBody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74542086-12C8-41B2-8688-7F85F748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记忆写入与确认分支</a:t>
            </a:r>
          </a:p>
        </p:txBody>
      </p:sp>
      <p:sp>
        <p:nvSpPr>
          <p:cNvPr id="3" name="label-3">
            <a:extLst xmlns:a="http://schemas.openxmlformats.org/drawingml/2006/main">
              <a:ext uri="{FF2B5EF4-FFF2-40B4-BE49-F238E27FC236}">
                <a16:creationId xmlns:a16="http://schemas.microsoft.com/office/drawing/2014/main" id="{5DF75BD2-D35E-4C11-AAE9-A4247A46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获准记事或导入资料，按身份与记录类型核验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83DC3846-D639-4326-8A9E-F93AAAA7D9C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  <a:prstDash val="solid"/>
          </a:ln>
        </p:spPr>
      </p:cxnSp>
      <p:sp>
        <p:nvSpPr>
          <p:cNvPr id="5" name="label-5">
            <a:extLst xmlns:a="http://schemas.openxmlformats.org/drawingml/2006/main">
              <a:ext uri="{FF2B5EF4-FFF2-40B4-BE49-F238E27FC236}">
                <a16:creationId xmlns:a16="http://schemas.microsoft.com/office/drawing/2014/main" id="{B81E5928-C245-4C80-810C-3326166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label-6">
            <a:extLst xmlns:a="http://schemas.openxmlformats.org/drawingml/2006/main">
              <a:ext uri="{FF2B5EF4-FFF2-40B4-BE49-F238E27FC236}">
                <a16:creationId xmlns:a16="http://schemas.microsoft.com/office/drawing/2014/main" id="{5B5867D4-C437-47F4-BD12-B0BDFFA1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label-7">
            <a:extLst xmlns:a="http://schemas.openxmlformats.org/drawingml/2006/main">
              <a:ext uri="{FF2B5EF4-FFF2-40B4-BE49-F238E27FC236}">
                <a16:creationId xmlns:a16="http://schemas.microsoft.com/office/drawing/2014/main" id="{5431BBDF-DDBE-4801-A5A1-E55E00A9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8" name="memory-input">
            <a:extLst xmlns:a="http://schemas.openxmlformats.org/drawingml/2006/main">
              <a:ext uri="{FF2B5EF4-FFF2-40B4-BE49-F238E27FC236}">
                <a16:creationId xmlns:a16="http://schemas.microsoft.com/office/drawing/2014/main" id="{B8CECF3F-63FD-4ECB-9AC4-55DA39F3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90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9" name="label-9">
            <a:extLst xmlns:a="http://schemas.openxmlformats.org/drawingml/2006/main">
              <a:ext uri="{FF2B5EF4-FFF2-40B4-BE49-F238E27FC236}">
                <a16:creationId xmlns:a16="http://schemas.microsoft.com/office/drawing/2014/main" id="{0CB20BEF-B8B5-446A-97D0-38A8849A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抽取输入</a:t>
            </a:r>
          </a:p>
        </p:txBody>
      </p:sp>
      <p:sp>
        <p:nvSpPr>
          <p:cNvPr id="10" name="label-10">
            <a:extLst xmlns:a="http://schemas.openxmlformats.org/drawingml/2006/main">
              <a:ext uri="{FF2B5EF4-FFF2-40B4-BE49-F238E27FC236}">
                <a16:creationId xmlns:a16="http://schemas.microsoft.com/office/drawing/2014/main" id="{9679E9E1-00FA-46E8-8619-3FAA428F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获准记事 / 导入</a:t>
            </a:r>
          </a:p>
        </p:txBody>
      </p:sp>
      <p:sp>
        <p:nvSpPr>
          <p:cNvPr id="11" name="memory-extract">
            <a:extLst xmlns:a="http://schemas.openxmlformats.org/drawingml/2006/main">
              <a:ext uri="{FF2B5EF4-FFF2-40B4-BE49-F238E27FC236}">
                <a16:creationId xmlns:a16="http://schemas.microsoft.com/office/drawing/2014/main" id="{721A1D17-0C9D-43BF-8837-68665849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43125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2" name="label-12">
            <a:extLst xmlns:a="http://schemas.openxmlformats.org/drawingml/2006/main">
              <a:ext uri="{FF2B5EF4-FFF2-40B4-BE49-F238E27FC236}">
                <a16:creationId xmlns:a16="http://schemas.microsoft.com/office/drawing/2014/main" id="{B8E9D0E3-05C2-4013-944B-93DB0B75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25742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抽取与校验</a:t>
            </a:r>
          </a:p>
        </p:txBody>
      </p:sp>
      <p:sp>
        <p:nvSpPr>
          <p:cNvPr id="13" name="label-13">
            <a:extLst xmlns:a="http://schemas.openxmlformats.org/drawingml/2006/main">
              <a:ext uri="{FF2B5EF4-FFF2-40B4-BE49-F238E27FC236}">
                <a16:creationId xmlns:a16="http://schemas.microsoft.com/office/drawing/2014/main" id="{C7F84F89-C912-4526-8307-E41EE118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289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结构化候选 patch</a:t>
            </a:r>
          </a:p>
        </p:txBody>
      </p:sp>
      <p:sp>
        <p:nvSpPr>
          <p:cNvPr id="14" name="memory-identity-gate">
            <a:extLst xmlns:a="http://schemas.openxmlformats.org/drawingml/2006/main">
              <a:ext uri="{FF2B5EF4-FFF2-40B4-BE49-F238E27FC236}">
                <a16:creationId xmlns:a16="http://schemas.microsoft.com/office/drawing/2014/main" id="{D6DBD300-3003-4498-A7E9-7CC18E40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1428750" cy="10953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5" name="label-15">
            <a:extLst xmlns:a="http://schemas.openxmlformats.org/drawingml/2006/main">
              <a:ext uri="{FF2B5EF4-FFF2-40B4-BE49-F238E27FC236}">
                <a16:creationId xmlns:a16="http://schemas.microsoft.com/office/drawing/2014/main" id="{37ED340E-755A-4B42-8B3F-046DC0F4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8763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身份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明确？</a:t>
            </a:r>
          </a:p>
        </p:txBody>
      </p:sp>
      <p:sp>
        <p:nvSpPr>
          <p:cNvPr id="16" name="memory-type-check">
            <a:extLst xmlns:a="http://schemas.openxmlformats.org/drawingml/2006/main">
              <a:ext uri="{FF2B5EF4-FFF2-40B4-BE49-F238E27FC236}">
                <a16:creationId xmlns:a16="http://schemas.microsoft.com/office/drawing/2014/main" id="{0FDB7D8C-F310-47EE-A933-C4C4FC8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3009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7" name="label-17">
            <a:extLst xmlns:a="http://schemas.openxmlformats.org/drawingml/2006/main">
              <a:ext uri="{FF2B5EF4-FFF2-40B4-BE49-F238E27FC236}">
                <a16:creationId xmlns:a16="http://schemas.microsoft.com/office/drawing/2014/main" id="{70C8F809-B18E-4980-8663-502F743C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574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按记录类型核验</a:t>
            </a:r>
          </a:p>
        </p:txBody>
      </p:sp>
      <p:sp>
        <p:nvSpPr>
          <p:cNvPr id="18" name="label-18">
            <a:extLst xmlns:a="http://schemas.openxmlformats.org/drawingml/2006/main">
              <a:ext uri="{FF2B5EF4-FFF2-40B4-BE49-F238E27FC236}">
                <a16:creationId xmlns:a16="http://schemas.microsoft.com/office/drawing/2014/main" id="{CB45317C-E9C1-4412-92DC-3C805CEE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来源 / 置信度 / 去重</a:t>
            </a:r>
          </a:p>
        </p:txBody>
      </p:sp>
      <p:sp>
        <p:nvSpPr>
          <p:cNvPr id="19" name="memory-identity-pending">
            <a:extLst xmlns:a="http://schemas.openxmlformats.org/drawingml/2006/main">
              <a:ext uri="{FF2B5EF4-FFF2-40B4-BE49-F238E27FC236}">
                <a16:creationId xmlns:a16="http://schemas.microsoft.com/office/drawing/2014/main" id="{53BAC3AF-02AD-45B2-8B47-20A67159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810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8"/>
          </a:solidFill>
          <a:ln xmlns:a="http://schemas.openxmlformats.org/drawingml/2006/main" w="14288">
            <a:solidFill>
              <a:srgbClr val="9B6030"/>
            </a:solidFill>
          </a:ln>
        </p:spPr>
      </p:sp>
      <p:sp>
        <p:nvSpPr>
          <p:cNvPr id="20" name="label-20">
            <a:extLst xmlns:a="http://schemas.openxmlformats.org/drawingml/2006/main">
              <a:ext uri="{FF2B5EF4-FFF2-40B4-BE49-F238E27FC236}">
                <a16:creationId xmlns:a16="http://schemas.microsoft.com/office/drawing/2014/main" id="{BD093E6D-173A-48A3-86D6-302FC874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581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身份待确认</a:t>
            </a:r>
          </a:p>
        </p:txBody>
      </p:sp>
      <p:sp>
        <p:nvSpPr>
          <p:cNvPr id="21" name="label-21">
            <a:extLst xmlns:a="http://schemas.openxmlformats.org/drawingml/2006/main">
              <a:ext uri="{FF2B5EF4-FFF2-40B4-BE49-F238E27FC236}">
                <a16:creationId xmlns:a16="http://schemas.microsoft.com/office/drawing/2014/main" id="{822CB5FA-24D2-47CC-B1E8-FA5D9CD9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4581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选择已有档案或新建人物</a:t>
            </a:r>
          </a:p>
        </p:txBody>
      </p:sp>
      <p:sp>
        <p:nvSpPr>
          <p:cNvPr id="22" name="memory-save">
            <a:extLst xmlns:a="http://schemas.openxmlformats.org/drawingml/2006/main">
              <a:ext uri="{FF2B5EF4-FFF2-40B4-BE49-F238E27FC236}">
                <a16:creationId xmlns:a16="http://schemas.microsoft.com/office/drawing/2014/main" id="{2CD4EB7F-A7E4-44AA-A714-BC2B6FE5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971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3" name="label-23">
            <a:extLst xmlns:a="http://schemas.openxmlformats.org/drawingml/2006/main">
              <a:ext uri="{FF2B5EF4-FFF2-40B4-BE49-F238E27FC236}">
                <a16:creationId xmlns:a16="http://schemas.microsoft.com/office/drawing/2014/main" id="{1F6BA239-2959-4B11-9791-A3FE1C97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自动写入</a:t>
            </a:r>
          </a:p>
        </p:txBody>
      </p:sp>
      <p:sp>
        <p:nvSpPr>
          <p:cNvPr id="24" name="label-24">
            <a:extLst xmlns:a="http://schemas.openxmlformats.org/drawingml/2006/main">
              <a:ext uri="{FF2B5EF4-FFF2-40B4-BE49-F238E27FC236}">
                <a16:creationId xmlns:a16="http://schemas.microsoft.com/office/drawing/2014/main" id="{30987403-A0CE-4278-B7D1-B63A9CC3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SAVEPOINT 与幂等指纹</a:t>
            </a:r>
          </a:p>
        </p:txBody>
      </p:sp>
      <p:sp>
        <p:nvSpPr>
          <p:cNvPr id="25" name="memory-fact-pending">
            <a:extLst xmlns:a="http://schemas.openxmlformats.org/drawingml/2006/main">
              <a:ext uri="{FF2B5EF4-FFF2-40B4-BE49-F238E27FC236}">
                <a16:creationId xmlns:a16="http://schemas.microsoft.com/office/drawing/2014/main" id="{7F1B90D9-3D9C-41E6-921C-834CF6C7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2971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8"/>
          </a:solidFill>
          <a:ln xmlns:a="http://schemas.openxmlformats.org/drawingml/2006/main" w="14288">
            <a:solidFill>
              <a:srgbClr val="9B6030"/>
            </a:solidFill>
          </a:ln>
        </p:spPr>
      </p:sp>
      <p:sp>
        <p:nvSpPr>
          <p:cNvPr id="26" name="label-26">
            <a:extLst xmlns:a="http://schemas.openxmlformats.org/drawingml/2006/main">
              <a:ext uri="{FF2B5EF4-FFF2-40B4-BE49-F238E27FC236}">
                <a16:creationId xmlns:a16="http://schemas.microsoft.com/office/drawing/2014/main" id="{2074BCCC-8F0F-4069-ADD6-103BB72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482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事实待确认</a:t>
            </a:r>
          </a:p>
        </p:txBody>
      </p:sp>
      <p:sp>
        <p:nvSpPr>
          <p:cNvPr id="27" name="label-27">
            <a:extLst xmlns:a="http://schemas.openxmlformats.org/drawingml/2006/main">
              <a:ext uri="{FF2B5EF4-FFF2-40B4-BE49-F238E27FC236}">
                <a16:creationId xmlns:a16="http://schemas.microsoft.com/office/drawing/2014/main" id="{AB41B013-F1AB-492C-9728-F6ECDFDC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196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用户确认或丢弃</a:t>
            </a:r>
          </a:p>
        </p:txBody>
      </p:sp>
      <p:sp>
        <p:nvSpPr>
          <p:cNvPr id="28" name="memory-skip">
            <a:extLst xmlns:a="http://schemas.openxmlformats.org/drawingml/2006/main">
              <a:ext uri="{FF2B5EF4-FFF2-40B4-BE49-F238E27FC236}">
                <a16:creationId xmlns:a16="http://schemas.microsoft.com/office/drawing/2014/main" id="{8A657847-3D36-467B-B334-55E9FD6B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33900"/>
            <a:ext cx="29718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9" name="label-29">
            <a:extLst xmlns:a="http://schemas.openxmlformats.org/drawingml/2006/main">
              <a:ext uri="{FF2B5EF4-FFF2-40B4-BE49-F238E27FC236}">
                <a16:creationId xmlns:a16="http://schemas.microsoft.com/office/drawing/2014/main" id="{E9D551DC-DF52-4B1E-9962-999711F8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4820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跳过</a:t>
            </a:r>
          </a:p>
        </p:txBody>
      </p:sp>
      <p:sp>
        <p:nvSpPr>
          <p:cNvPr id="30" name="label-30">
            <a:extLst xmlns:a="http://schemas.openxmlformats.org/drawingml/2006/main">
              <a:ext uri="{FF2B5EF4-FFF2-40B4-BE49-F238E27FC236}">
                <a16:creationId xmlns:a16="http://schemas.microsoft.com/office/drawing/2014/main" id="{9B33A35B-00A5-4CBB-B8E4-B03F850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196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按校验与分档规则处理</a:t>
            </a:r>
          </a:p>
        </p:txBody>
      </p:sp>
      <p:sp>
        <p:nvSpPr>
          <p:cNvPr id="31" name="memory-receipts">
            <a:extLst xmlns:a="http://schemas.openxmlformats.org/drawingml/2006/main">
              <a:ext uri="{FF2B5EF4-FFF2-40B4-BE49-F238E27FC236}">
                <a16:creationId xmlns:a16="http://schemas.microsoft.com/office/drawing/2014/main" id="{1EED0A1D-D34E-4056-884F-635901DA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32" name="label-32">
            <a:extLst xmlns:a="http://schemas.openxmlformats.org/drawingml/2006/main">
              <a:ext uri="{FF2B5EF4-FFF2-40B4-BE49-F238E27FC236}">
                <a16:creationId xmlns:a16="http://schemas.microsoft.com/office/drawing/2014/main" id="{11FE41B5-92E2-43DA-8B35-0E02459C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逐条回执：已保存 / 待确认 / 跳过</a:t>
            </a:r>
          </a:p>
        </p:txBody>
      </p:sp>
      <p:sp>
        <p:nvSpPr>
          <p:cNvPr id="36" name="label-36">
            <a:extLst xmlns:a="http://schemas.openxmlformats.org/drawingml/2006/main">
              <a:ext uri="{FF2B5EF4-FFF2-40B4-BE49-F238E27FC236}">
                <a16:creationId xmlns:a16="http://schemas.microsoft.com/office/drawing/2014/main" id="{47BB2138-3F39-4120-BD77-D1423755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是</a:t>
            </a:r>
          </a:p>
        </p:txBody>
      </p:sp>
      <p:cxnSp>
        <p:nvCxnSpPr>
          <p:cNvPr id="37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06B82EAC-F69C-42A0-9CCB-87269DFC0E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0" y="31432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</a:ln>
        </p:spPr>
      </p:cxnSp>
      <p:cxnSp>
        <p:nvCxnSpPr>
          <p:cNvPr id="38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34B0D906-DFE5-45A3-83BB-CE2E807C0AD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419725" y="3714750"/>
            <a:ext cx="1438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  <a:tailEnd type="triangle" w="med" len="med"/>
          </a:ln>
        </p:spPr>
      </p:cxnSp>
      <p:sp>
        <p:nvSpPr>
          <p:cNvPr id="39" name="label-39">
            <a:extLst xmlns:a="http://schemas.openxmlformats.org/drawingml/2006/main">
              <a:ext uri="{FF2B5EF4-FFF2-40B4-BE49-F238E27FC236}">
                <a16:creationId xmlns:a16="http://schemas.microsoft.com/office/drawing/2014/main" id="{62E8A377-DB6D-41C2-AFBB-13BE12F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76600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否</a:t>
            </a:r>
          </a:p>
        </p:txBody>
      </p:sp>
      <p:cxnSp>
        <p:nvCxnSpPr>
          <p:cNvPr id="40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C8D81329-F30B-4F38-8969-A86CC84435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9900" y="40957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</a:ln>
        </p:spPr>
      </p:cxnSp>
      <p:cxnSp>
        <p:nvCxnSpPr>
          <p:cNvPr id="41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2281BB03-0938-4FBF-8A68-E5E0700EFD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09900" y="4267200"/>
            <a:ext cx="5229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</a:ln>
        </p:spPr>
      </p:cxnSp>
      <p:cxnSp>
        <p:nvCxnSpPr>
          <p:cNvPr id="42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230620A9-BA2B-4043-A55E-67C4B159702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239125" y="2590800"/>
            <a:ext cx="0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</a:ln>
        </p:spPr>
      </p:cxnSp>
      <p:cxnSp>
        <p:nvCxnSpPr>
          <p:cNvPr id="43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CCDF9CF8-4EB4-49F0-9AB6-078D03929D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239125" y="25908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  <a:tailEnd type="triangle" w="med" len="med"/>
          </a:ln>
        </p:spPr>
      </p:cxnSp>
      <p:sp>
        <p:nvSpPr>
          <p:cNvPr id="44" name="label-44">
            <a:extLst xmlns:a="http://schemas.openxmlformats.org/drawingml/2006/main">
              <a:ext uri="{FF2B5EF4-FFF2-40B4-BE49-F238E27FC236}">
                <a16:creationId xmlns:a16="http://schemas.microsoft.com/office/drawing/2014/main" id="{4B30A478-3A65-4FFD-B28E-9E5DFF9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选择人物后重放</a:t>
            </a:r>
          </a:p>
        </p:txBody>
      </p:sp>
      <p:cxnSp>
        <p:nvCxnSpPr>
          <p:cNvPr id="45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2C44D1C7-2F95-4E7B-A0D3-9BDDF61B46A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81000" y="37147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dash"/>
          </a:ln>
        </p:spPr>
      </p:cxnSp>
      <p:cxnSp>
        <p:nvCxnSpPr>
          <p:cNvPr id="46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67BD141E-99A2-4C8C-BEE8-1D6F9CF2F5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1000" y="3714750"/>
            <a:ext cx="0" cy="2009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dash"/>
          </a:ln>
        </p:spPr>
      </p:cxnSp>
      <p:cxnSp>
        <p:nvCxnSpPr>
          <p:cNvPr id="47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88915CC0-8D5C-4327-B01D-0FC1DD9B8F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1000" y="57245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dash"/>
            <a:tailEnd type="triangle" w="med" len="med"/>
          </a:ln>
        </p:spPr>
      </p:cxnSp>
      <p:cxnSp>
        <p:nvCxnSpPr>
          <p:cNvPr id="48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D7D93A09-232A-49A0-B2C2-F6DCC11615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77450" y="303847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</a:ln>
        </p:spPr>
      </p:cxnSp>
      <p:cxnSp>
        <p:nvCxnSpPr>
          <p:cNvPr id="49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C1662CB7-148B-424C-8FB5-14CC6DCC173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095500" y="4400550"/>
            <a:ext cx="798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</a:ln>
        </p:spPr>
      </p:cxnSp>
      <p:cxnSp>
        <p:nvCxnSpPr>
          <p:cNvPr id="50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060AC4F3-52AA-4EBD-997B-C902C40DFEC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44005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51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683D8374-DCE2-41E0-8CF6-36E8740440D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44005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52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217F1691-41D2-434D-88D0-B8589EBFC1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96500" y="44005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sp>
        <p:nvSpPr>
          <p:cNvPr id="54" name="label-54">
            <a:extLst xmlns:a="http://schemas.openxmlformats.org/drawingml/2006/main">
              <a:ext uri="{FF2B5EF4-FFF2-40B4-BE49-F238E27FC236}">
                <a16:creationId xmlns:a16="http://schemas.microsoft.com/office/drawing/2014/main" id="{E96A2DAE-56FE-4E6B-B88C-85EBBB30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72000"/>
            <a:ext cx="71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确认</a:t>
            </a:r>
          </a:p>
        </p:txBody>
      </p:sp>
      <p:sp>
        <p:nvSpPr>
          <p:cNvPr id="56" name="label-56">
            <a:extLst xmlns:a="http://schemas.openxmlformats.org/drawingml/2006/main">
              <a:ext uri="{FF2B5EF4-FFF2-40B4-BE49-F238E27FC236}">
                <a16:creationId xmlns:a16="http://schemas.microsoft.com/office/drawing/2014/main" id="{CA732833-D924-41B2-97A7-96DC19CE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72000"/>
            <a:ext cx="714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丢弃</a:t>
            </a:r>
          </a:p>
        </p:txBody>
      </p:sp>
      <p:cxnSp>
        <p:nvCxnSpPr>
          <p:cNvPr id="57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59F54B09-20A8-47DC-B366-B4D326253E0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53340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58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947EDE05-2517-4F56-B36B-2F3C601E25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53340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  <a:tailEnd type="triangle" w="med" len="med"/>
          </a:ln>
        </p:spPr>
      </p:cxnSp>
      <p:cxnSp>
        <p:nvCxnSpPr>
          <p:cNvPr id="59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ECA9992F-719C-4B22-933C-44F7877B97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96500" y="53340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sp>
        <p:nvSpPr>
          <p:cNvPr id="60" name="label-60">
            <a:extLst xmlns:a="http://schemas.openxmlformats.org/drawingml/2006/main">
              <a:ext uri="{FF2B5EF4-FFF2-40B4-BE49-F238E27FC236}">
                <a16:creationId xmlns:a16="http://schemas.microsoft.com/office/drawing/2014/main" id="{FEE3C265-A4E4-48A4-99FC-D62AAB43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本图只示抽取管线。对话先判读写；沟通结果另经提案审阅，确认后入档。</a:t>
            </a:r>
          </a:p>
        </p:txBody>
      </p:sp>
    </p:spTree>
    <p:extLst>
      <p:ext uri="{BB962C8B-B14F-4D97-AF65-F5344CB8AC3E}">
        <p14:creationId xmlns:p14="http://schemas.microsoft.com/office/powerpoint/2010/main" val="16103440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B0143356-2E2D-4582-BA91-6391E53F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04  记忆架构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51DEB06-BD55-49C6-89A3-0038CAB0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身份匹配与置信度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96645A1-470D-4277-A0C3-875628DA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默认门槛把不确定归属和不确定事实显式保留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D7F72-FA93-48D6-A8EC-353001BF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8665482-37EE-46D1-A9E9-93C75549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8FD9EDF-A494-4F32-9C9A-D5D1F236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A78EB64-A105-481E-ABD3-E42A36E4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2CADE-8AF3-4A1E-9E11-9F01B95792DB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686300"/>
                <a:gridCol w="4191000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当前默认值或行为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需要注意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字段 / 记忆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≥0.85 自动，0.60–&lt;0.85 待确认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来源校验也可能降低分档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字段 / 记忆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低于 0.60 跳过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承诺、账目使用各自的规则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身份匹配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 0.85，确认 0.50，领先差 0.10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多个同名候选会触发歧义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候选召回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别名精确、包含、编辑距离 ≤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当前未接入完整语义实体融合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身份不明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挂起整个人物 patch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用户选择后再重放相关信息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802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">
            <a:extLst xmlns:a="http://schemas.openxmlformats.org/drawingml/2006/main">
              <a:ext uri="{FF2B5EF4-FFF2-40B4-BE49-F238E27FC236}">
                <a16:creationId xmlns:a16="http://schemas.microsoft.com/office/drawing/2014/main" id="{C69038F3-837D-44CE-B953-A38D0FE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04  记忆架构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8FEE591-099A-4EF0-865C-9F9677F5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检索与排序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0619976-B6CF-487A-A1E5-321C90D2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当前主要使用结构化查询和中文全文检索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5D97B-B4C2-47E8-840B-6C0FF1BB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9824526-C0DE-40CD-BF00-9FB34483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47100F04-9C23-4E9D-8AFC-39E5689C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EE9F51E-81E0-4133-8A02-B8E49674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sp>
        <p:nvSpPr>
          <p:cNvPr id="21" name="text-8">
            <a:extLst xmlns:a="http://schemas.openxmlformats.org/drawingml/2006/main">
              <a:ext uri="{FF2B5EF4-FFF2-40B4-BE49-F238E27FC236}">
                <a16:creationId xmlns:a16="http://schemas.microsoft.com/office/drawing/2014/main" id="{48B16BE0-02B4-4EFE-AA1E-1E1B6F8E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范围先过滤</a:t>
            </a:r>
          </a:p>
        </p:txBody>
      </p:sp>
      <p:sp>
        <p:nvSpPr>
          <p:cNvPr id="22" name="text-9">
            <a:extLst xmlns:a="http://schemas.openxmlformats.org/drawingml/2006/main">
              <a:ext uri="{FF2B5EF4-FFF2-40B4-BE49-F238E27FC236}">
                <a16:creationId xmlns:a16="http://schemas.microsoft.com/office/drawing/2014/main" id="{71D51C34-8A60-4CF5-A433-5D27C80F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24075"/>
            <a:ext cx="843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明确人物、多人集合或个人范围后再取候选。</a:t>
            </a:r>
          </a:p>
        </p:txBody>
      </p:sp>
      <p:sp>
        <p:nvSpPr>
          <p:cNvPr id="23" name="text-10">
            <a:extLst xmlns:a="http://schemas.openxmlformats.org/drawingml/2006/main">
              <a:ext uri="{FF2B5EF4-FFF2-40B4-BE49-F238E27FC236}">
                <a16:creationId xmlns:a16="http://schemas.microsoft.com/office/drawing/2014/main" id="{07987768-0470-4E9F-8583-4387949C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词面分层召回</a:t>
            </a:r>
          </a:p>
        </p:txBody>
      </p:sp>
      <p:sp>
        <p:nvSpPr>
          <p:cNvPr id="24" name="text-11">
            <a:extLst xmlns:a="http://schemas.openxmlformats.org/drawingml/2006/main">
              <a:ext uri="{FF2B5EF4-FFF2-40B4-BE49-F238E27FC236}">
                <a16:creationId xmlns:a16="http://schemas.microsoft.com/office/drawing/2014/main" id="{5B59B621-3C31-4827-BFC3-D77C68A7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843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精确 FTS 优先，范围内补充有界 OR 与中文子串。</a:t>
            </a:r>
          </a:p>
        </p:txBody>
      </p:sp>
      <p:sp>
        <p:nvSpPr>
          <p:cNvPr id="25" name="text-12">
            <a:extLst xmlns:a="http://schemas.openxmlformats.org/drawingml/2006/main">
              <a:ext uri="{FF2B5EF4-FFF2-40B4-BE49-F238E27FC236}">
                <a16:creationId xmlns:a16="http://schemas.microsoft.com/office/drawing/2014/main" id="{A9EDFF53-351B-46DE-B258-342E8AD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排序与可选向量</a:t>
            </a:r>
          </a:p>
        </p:txBody>
      </p:sp>
      <p:sp>
        <p:nvSpPr>
          <p:cNvPr id="26" name="text-13">
            <a:extLst xmlns:a="http://schemas.openxmlformats.org/drawingml/2006/main">
              <a:ext uri="{FF2B5EF4-FFF2-40B4-BE49-F238E27FC236}">
                <a16:creationId xmlns:a16="http://schemas.microsoft.com/office/drawing/2014/main" id="{E899D711-5E67-4492-A906-1DE14933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843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先按匹配类型分层，再按分数与日期；向量当前未启用。</a:t>
            </a:r>
          </a:p>
        </p:txBody>
      </p:sp>
      <p:sp>
        <p:nvSpPr>
          <p:cNvPr id="27" name="text-14">
            <a:extLst xmlns:a="http://schemas.openxmlformats.org/drawingml/2006/main">
              <a:ext uri="{FF2B5EF4-FFF2-40B4-BE49-F238E27FC236}">
                <a16:creationId xmlns:a16="http://schemas.microsoft.com/office/drawing/2014/main" id="{7AF65C3D-33CD-44B4-86EF-3F2E70C7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已有开发集基线</a:t>
            </a:r>
          </a:p>
        </p:txBody>
      </p:sp>
      <p:sp>
        <p:nvSpPr>
          <p:cNvPr id="28" name="text-15">
            <a:extLst xmlns:a="http://schemas.openxmlformats.org/drawingml/2006/main">
              <a:ext uri="{FF2B5EF4-FFF2-40B4-BE49-F238E27FC236}">
                <a16:creationId xmlns:a16="http://schemas.microsoft.com/office/drawing/2014/main" id="{C21532F5-28F1-40C4-9335-22E113D9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24425"/>
            <a:ext cx="8439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10 个正例：Recall@1/3/5 = .70，MRR@5 = .80。</a:t>
            </a:r>
          </a:p>
        </p:txBody>
      </p:sp>
      <p:sp>
        <p:nvSpPr>
          <p:cNvPr id="29" name="text-16">
            <a:extLst xmlns:a="http://schemas.openxmlformats.org/drawingml/2006/main">
              <a:ext uri="{FF2B5EF4-FFF2-40B4-BE49-F238E27FC236}">
                <a16:creationId xmlns:a16="http://schemas.microsoft.com/office/drawing/2014/main" id="{88E52210-A1B7-488D-8DF2-664DD818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虚构自然问法开发集，禁用网络和向量；仍有低词面重合与部分相关资料漏召回</a:t>
            </a:r>
          </a:p>
        </p:txBody>
      </p:sp>
    </p:spTree>
    <p:extLst>
      <p:ext uri="{BB962C8B-B14F-4D97-AF65-F5344CB8AC3E}">
        <p14:creationId xmlns:p14="http://schemas.microsoft.com/office/powerpoint/2010/main" val="6995920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930A9BDA-9637-4BEF-89DE-0C8B883B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04  记忆架构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0A39E20-4A7A-4630-8504-5A932C54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上下文与会话历史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836DF30-8D7D-42A9-AD86-97FCF1E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先明确本轮人物范围，再提供有效资料与历史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01FA8-6FCF-448B-9F65-559F4BB0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8AEE910-C666-4F58-B06D-3CE3CA57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214D320-FED5-4C22-A002-4B65700F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C08EC93-121A-4384-9BB4-8ADC064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819D0-FFCF-4B3F-8980-7648881E5AE3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302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上下文来源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当前选择方式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302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个人记忆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在可用预算内加入本人记忆快照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人物范围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单人可承接，多人与同名不明先澄清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302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人物档案卡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档案卡、最多 12 个字段来源及 10 条记忆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02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近期事件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近 7 天最多 10 条，按人物范围过滤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302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会话历史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 24,000 字预算，保留最近 12 条，旧消息渐进摘要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2CCC53C-FD53-42BD-9C61-6679C72F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资料带本轮来源快照；旧问题重试只读取截至该问题的历史</a:t>
            </a:r>
          </a:p>
        </p:txBody>
      </p:sp>
    </p:spTree>
    <p:extLst>
      <p:ext uri="{BB962C8B-B14F-4D97-AF65-F5344CB8AC3E}">
        <p14:creationId xmlns:p14="http://schemas.microsoft.com/office/powerpoint/2010/main" val="5232570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C6C9F8AF-B26A-41CA-B04F-ADDDE1A1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05  Agent 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D089337-32A1-4651-B29F-4AAAA15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主 Agent 与工具循环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ABE6C6F-F633-43DF-9EF8-EB1F17E9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后端约束人物范围与写入许可，模型调用专用工具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98CCE-5B2D-4A3F-8F67-AD58204E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BFFDF6F-EA9D-4F5E-9EE5-A4FE85ED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BFD66D6-88D0-4DC1-8922-B2DFF19F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C054706-24CF-44CE-8036-C4F56394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6A7793A-401F-4F66-8899-AF8B6F84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最多 10 轮工具循环，当前有 16 个 function-calling 工具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5DCFC-5FB6-4879-A1AA-BD5447A45829}"/>
              </a:ext>
            </a:extLst>
          </p:cNvPr>
          <p:cNvGraphicFramePr/>
          <p:nvPr/>
        </p:nvGraphicFramePr>
        <p:xfrm>
          <a:off xmlns:a="http://schemas.openxmlformats.org/drawingml/2006/main" x="609600" y="28860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5105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覆盖的操作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5105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人物、记忆、承诺、账本、技能与实际联系间隔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写入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获准记事中的事实、承诺、账目及明确操作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5105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推进事项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完成承诺，生成研究提案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响应方式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逐个执行、登记来源与回执，再核对终稿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</a:tbl>
          </a:graphicData>
        </a:graphic>
      </p:graphicFrame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42635D0-0D22-496E-BC5A-B1A2C57D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当前工具集无通用终端、登录浏览器操作或 IM 消息发送</a:t>
            </a:r>
          </a:p>
        </p:txBody>
      </p:sp>
    </p:spTree>
    <p:extLst>
      <p:ext uri="{BB962C8B-B14F-4D97-AF65-F5344CB8AC3E}">
        <p14:creationId xmlns:p14="http://schemas.microsoft.com/office/powerpoint/2010/main" val="9483638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label-1">
            <a:extLst xmlns:a="http://schemas.openxmlformats.org/drawingml/2006/main">
              <a:ext uri="{FF2B5EF4-FFF2-40B4-BE49-F238E27FC236}">
                <a16:creationId xmlns:a16="http://schemas.microsoft.com/office/drawing/2014/main" id="{951A091C-45B4-4F2E-980A-4B85D689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05  Agent 架构</a:t>
            </a:r>
          </a:p>
        </p:txBody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887D6B59-CF29-4D1D-A9EB-71620546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Agent 工具循环图</a:t>
            </a:r>
          </a:p>
        </p:txBody>
      </p:sp>
      <p:sp>
        <p:nvSpPr>
          <p:cNvPr id="3" name="label-3">
            <a:extLst xmlns:a="http://schemas.openxmlformats.org/drawingml/2006/main">
              <a:ext uri="{FF2B5EF4-FFF2-40B4-BE49-F238E27FC236}">
                <a16:creationId xmlns:a16="http://schemas.microsoft.com/office/drawing/2014/main" id="{76AC9D78-651A-47A0-AA4B-80EA967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人物范围、读写许可和来源核对贯穿每轮回答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46803BE5-5D81-496E-80C3-1BC3E98389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  <a:prstDash val="solid"/>
          </a:ln>
        </p:spPr>
      </p:cxnSp>
      <p:sp>
        <p:nvSpPr>
          <p:cNvPr id="5" name="label-5">
            <a:extLst xmlns:a="http://schemas.openxmlformats.org/drawingml/2006/main">
              <a:ext uri="{FF2B5EF4-FFF2-40B4-BE49-F238E27FC236}">
                <a16:creationId xmlns:a16="http://schemas.microsoft.com/office/drawing/2014/main" id="{8EA385DC-2868-4467-A138-499F1904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label-6">
            <a:extLst xmlns:a="http://schemas.openxmlformats.org/drawingml/2006/main">
              <a:ext uri="{FF2B5EF4-FFF2-40B4-BE49-F238E27FC236}">
                <a16:creationId xmlns:a16="http://schemas.microsoft.com/office/drawing/2014/main" id="{86D66E79-CE94-4237-9EB9-3EDCBAAD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label-7">
            <a:extLst xmlns:a="http://schemas.openxmlformats.org/drawingml/2006/main">
              <a:ext uri="{FF2B5EF4-FFF2-40B4-BE49-F238E27FC236}">
                <a16:creationId xmlns:a16="http://schemas.microsoft.com/office/drawing/2014/main" id="{3CF93D7F-324E-4423-85B0-1E617F22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  <p:sp>
        <p:nvSpPr>
          <p:cNvPr id="47" name="workflow-node">
            <a:extLst xmlns:a="http://schemas.openxmlformats.org/drawingml/2006/main">
              <a:ext uri="{FF2B5EF4-FFF2-40B4-BE49-F238E27FC236}">
                <a16:creationId xmlns:a16="http://schemas.microsoft.com/office/drawing/2014/main" id="{DA4D65A9-9EE5-4335-8C9D-F3A5E636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2383">
            <a:solidFill>
              <a:srgbClr val="1D6B50"/>
            </a:solidFill>
          </a:ln>
        </p:spPr>
      </p:sp>
      <p:sp>
        <p:nvSpPr>
          <p:cNvPr id="48" name="text-9">
            <a:extLst xmlns:a="http://schemas.openxmlformats.org/drawingml/2006/main">
              <a:ext uri="{FF2B5EF4-FFF2-40B4-BE49-F238E27FC236}">
                <a16:creationId xmlns:a16="http://schemas.microsoft.com/office/drawing/2014/main" id="{F7B94E63-09E4-4980-9E19-0EECB41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保存用户消息</a:t>
            </a:r>
          </a:p>
        </p:txBody>
      </p:sp>
      <p:sp>
        <p:nvSpPr>
          <p:cNvPr id="49" name="text-10">
            <a:extLst xmlns:a="http://schemas.openxmlformats.org/drawingml/2006/main">
              <a:ext uri="{FF2B5EF4-FFF2-40B4-BE49-F238E27FC236}">
                <a16:creationId xmlns:a16="http://schemas.microsoft.com/office/drawing/2014/main" id="{5215F2CF-4564-4E9A-8DD0-AE4F22B3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人物范围与记忆焦点</a:t>
            </a:r>
          </a:p>
        </p:txBody>
      </p:sp>
      <p:sp>
        <p:nvSpPr>
          <p:cNvPr id="50" name="workflow-node">
            <a:extLst xmlns:a="http://schemas.openxmlformats.org/drawingml/2006/main">
              <a:ext uri="{FF2B5EF4-FFF2-40B4-BE49-F238E27FC236}">
                <a16:creationId xmlns:a16="http://schemas.microsoft.com/office/drawing/2014/main" id="{6431FC1B-21B8-408B-8099-AEF50C3D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8"/>
          </a:solidFill>
          <a:ln xmlns:a="http://schemas.openxmlformats.org/drawingml/2006/main" w="12383">
            <a:solidFill>
              <a:srgbClr val="9B6030"/>
            </a:solidFill>
          </a:ln>
        </p:spPr>
      </p:sp>
      <p:sp>
        <p:nvSpPr>
          <p:cNvPr id="51" name="text-12">
            <a:extLst xmlns:a="http://schemas.openxmlformats.org/drawingml/2006/main">
              <a:ext uri="{FF2B5EF4-FFF2-40B4-BE49-F238E27FC236}">
                <a16:creationId xmlns:a16="http://schemas.microsoft.com/office/drawing/2014/main" id="{EF725814-5147-4CB7-983B-AF3F5A65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193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意图与写入守卫</a:t>
            </a:r>
          </a:p>
        </p:txBody>
      </p:sp>
      <p:sp>
        <p:nvSpPr>
          <p:cNvPr id="52" name="text-13">
            <a:extLst xmlns:a="http://schemas.openxmlformats.org/drawingml/2006/main">
              <a:ext uri="{FF2B5EF4-FFF2-40B4-BE49-F238E27FC236}">
                <a16:creationId xmlns:a16="http://schemas.microsoft.com/office/drawing/2014/main" id="{EABC49B3-5EB4-4B91-B51B-3962639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098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query / unknown 只读</a:t>
            </a:r>
          </a:p>
        </p:txBody>
      </p:sp>
      <p:sp>
        <p:nvSpPr>
          <p:cNvPr id="53" name="workflow-node">
            <a:extLst xmlns:a="http://schemas.openxmlformats.org/drawingml/2006/main">
              <a:ext uri="{FF2B5EF4-FFF2-40B4-BE49-F238E27FC236}">
                <a16:creationId xmlns:a16="http://schemas.microsoft.com/office/drawing/2014/main" id="{F3E78064-093D-44FF-8391-4409B8B9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24075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2383">
            <a:solidFill>
              <a:srgbClr val="1D6B50"/>
            </a:solidFill>
          </a:ln>
        </p:spPr>
      </p:sp>
      <p:sp>
        <p:nvSpPr>
          <p:cNvPr id="54" name="text-15">
            <a:extLst xmlns:a="http://schemas.openxmlformats.org/drawingml/2006/main">
              <a:ext uri="{FF2B5EF4-FFF2-40B4-BE49-F238E27FC236}">
                <a16:creationId xmlns:a16="http://schemas.microsoft.com/office/drawing/2014/main" id="{C2B942F5-8A7F-4676-93F0-77052A50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193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本轮资料快照</a:t>
            </a:r>
          </a:p>
        </p:txBody>
      </p:sp>
      <p:sp>
        <p:nvSpPr>
          <p:cNvPr id="55" name="text-16">
            <a:extLst xmlns:a="http://schemas.openxmlformats.org/drawingml/2006/main">
              <a:ext uri="{FF2B5EF4-FFF2-40B4-BE49-F238E27FC236}">
                <a16:creationId xmlns:a16="http://schemas.microsoft.com/office/drawing/2014/main" id="{2A0E7FB2-6454-45AD-8B26-26C77956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98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档案、记忆与截止历史</a:t>
            </a:r>
          </a:p>
        </p:txBody>
      </p:sp>
      <p:cxnSp>
        <p:nvCxnSpPr>
          <p:cNvPr id="56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924C25A1-217F-4B51-B2BA-6348C0E2B3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81350" y="2590800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tailEnd type="triangle" w="med" len="med"/>
          </a:ln>
        </p:spPr>
      </p:cxnSp>
      <p:cxnSp>
        <p:nvCxnSpPr>
          <p:cNvPr id="57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42CC877C-CB7F-409C-9C06-175636B38C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81875" y="2590800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tailEnd type="triangle" w="med" len="med"/>
          </a:ln>
        </p:spPr>
      </p:cxnSp>
      <p:sp>
        <p:nvSpPr>
          <p:cNvPr id="58" name="text-19">
            <a:extLst xmlns:a="http://schemas.openxmlformats.org/drawingml/2006/main">
              <a:ext uri="{FF2B5EF4-FFF2-40B4-BE49-F238E27FC236}">
                <a16:creationId xmlns:a16="http://schemas.microsoft.com/office/drawing/2014/main" id="{03BCCA82-D047-4FE6-A7C0-3D10A9AB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099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record / mixed 仅抽取批准的原文片段</a:t>
            </a:r>
          </a:p>
        </p:txBody>
      </p:sp>
      <p:cxnSp>
        <p:nvCxnSpPr>
          <p:cNvPr id="59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A4AE063C-2270-45FB-85CE-803C6F3B16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96525" y="3057525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tailEnd type="triangle" w="med" len="med"/>
          </a:ln>
        </p:spPr>
      </p:cxnSp>
      <p:sp>
        <p:nvSpPr>
          <p:cNvPr id="60" name="workflow-node">
            <a:extLst xmlns:a="http://schemas.openxmlformats.org/drawingml/2006/main">
              <a:ext uri="{FF2B5EF4-FFF2-40B4-BE49-F238E27FC236}">
                <a16:creationId xmlns:a16="http://schemas.microsoft.com/office/drawing/2014/main" id="{21ED9F24-683F-4438-9784-4D24ECDE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2383">
            <a:solidFill>
              <a:srgbClr val="1D6B50"/>
            </a:solidFill>
          </a:ln>
        </p:spPr>
      </p:sp>
      <p:sp>
        <p:nvSpPr>
          <p:cNvPr id="61" name="text-22">
            <a:extLst xmlns:a="http://schemas.openxmlformats.org/drawingml/2006/main">
              <a:ext uri="{FF2B5EF4-FFF2-40B4-BE49-F238E27FC236}">
                <a16:creationId xmlns:a16="http://schemas.microsoft.com/office/drawing/2014/main" id="{F001DA29-FBA8-4FC2-8BA9-754FC90A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保存终稿与审计</a:t>
            </a:r>
          </a:p>
        </p:txBody>
      </p:sp>
      <p:sp>
        <p:nvSpPr>
          <p:cNvPr id="62" name="text-23">
            <a:extLst xmlns:a="http://schemas.openxmlformats.org/drawingml/2006/main">
              <a:ext uri="{FF2B5EF4-FFF2-40B4-BE49-F238E27FC236}">
                <a16:creationId xmlns:a16="http://schemas.microsoft.com/office/drawing/2014/main" id="{F509C139-F1A4-4ACB-BA5B-59A20DF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原稿、快照与回执</a:t>
            </a:r>
          </a:p>
        </p:txBody>
      </p:sp>
      <p:sp>
        <p:nvSpPr>
          <p:cNvPr id="63" name="workflow-node">
            <a:extLst xmlns:a="http://schemas.openxmlformats.org/drawingml/2006/main">
              <a:ext uri="{FF2B5EF4-FFF2-40B4-BE49-F238E27FC236}">
                <a16:creationId xmlns:a16="http://schemas.microsoft.com/office/drawing/2014/main" id="{A70BBFE9-93B0-431A-9EE4-7B4974A5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2383">
            <a:solidFill>
              <a:srgbClr val="1D6B50"/>
            </a:solidFill>
          </a:ln>
        </p:spPr>
      </p:sp>
      <p:sp>
        <p:nvSpPr>
          <p:cNvPr id="64" name="text-25">
            <a:extLst xmlns:a="http://schemas.openxmlformats.org/drawingml/2006/main">
              <a:ext uri="{FF2B5EF4-FFF2-40B4-BE49-F238E27FC236}">
                <a16:creationId xmlns:a16="http://schemas.microsoft.com/office/drawing/2014/main" id="{8EC040D3-2F52-49A3-AC93-B8863567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24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终稿修订与核对</a:t>
            </a:r>
          </a:p>
        </p:txBody>
      </p:sp>
      <p:sp>
        <p:nvSpPr>
          <p:cNvPr id="65" name="text-26">
            <a:extLst xmlns:a="http://schemas.openxmlformats.org/drawingml/2006/main">
              <a:ext uri="{FF2B5EF4-FFF2-40B4-BE49-F238E27FC236}">
                <a16:creationId xmlns:a16="http://schemas.microsoft.com/office/drawing/2014/main" id="{8765EC06-8E31-4BDC-B480-07E38975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148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引用有效，来源未变</a:t>
            </a:r>
          </a:p>
        </p:txBody>
      </p:sp>
      <p:sp>
        <p:nvSpPr>
          <p:cNvPr id="66" name="workflow-node">
            <a:extLst xmlns:a="http://schemas.openxmlformats.org/drawingml/2006/main">
              <a:ext uri="{FF2B5EF4-FFF2-40B4-BE49-F238E27FC236}">
                <a16:creationId xmlns:a16="http://schemas.microsoft.com/office/drawing/2014/main" id="{DFE91D20-D3B4-43B5-B18C-88271E5F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290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2383">
            <a:solidFill>
              <a:srgbClr val="1D6B50"/>
            </a:solidFill>
          </a:ln>
        </p:spPr>
      </p:sp>
      <p:sp>
        <p:nvSpPr>
          <p:cNvPr id="67" name="text-28">
            <a:extLst xmlns:a="http://schemas.openxmlformats.org/drawingml/2006/main">
              <a:ext uri="{FF2B5EF4-FFF2-40B4-BE49-F238E27FC236}">
                <a16:creationId xmlns:a16="http://schemas.microsoft.com/office/drawing/2014/main" id="{8EEBA30C-4E74-400B-9FBE-FA2CE960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24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模型与专用工具循环</a:t>
            </a:r>
          </a:p>
        </p:txBody>
      </p:sp>
      <p:sp>
        <p:nvSpPr>
          <p:cNvPr id="68" name="text-29">
            <a:extLst xmlns:a="http://schemas.openxmlformats.org/drawingml/2006/main">
              <a:ext uri="{FF2B5EF4-FFF2-40B4-BE49-F238E27FC236}">
                <a16:creationId xmlns:a16="http://schemas.microsoft.com/office/drawing/2014/main" id="{6FD38CF8-754F-459C-A754-BAF182F4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148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16 个工具，最多 10 轮</a:t>
            </a:r>
          </a:p>
        </p:txBody>
      </p:sp>
      <p:cxnSp>
        <p:nvCxnSpPr>
          <p:cNvPr id="69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355E9967-F204-4D2F-A61A-FEEC79DE91F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381875" y="4295775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tailEnd type="triangle" w="med" len="med"/>
          </a:ln>
        </p:spPr>
      </p:cxnSp>
      <p:cxnSp>
        <p:nvCxnSpPr>
          <p:cNvPr id="70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5A7886C3-B6CB-4470-872E-0DCC6494080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181350" y="4295775"/>
            <a:ext cx="1628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tailEnd type="triangle" w="med" len="med"/>
          </a:ln>
        </p:spPr>
      </p:cxnSp>
      <p:sp>
        <p:nvSpPr>
          <p:cNvPr id="71" name="text-32">
            <a:extLst xmlns:a="http://schemas.openxmlformats.org/drawingml/2006/main">
              <a:ext uri="{FF2B5EF4-FFF2-40B4-BE49-F238E27FC236}">
                <a16:creationId xmlns:a16="http://schemas.microsoft.com/office/drawing/2014/main" id="{24225A73-594E-4B49-99B1-C886FCB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工具每次读写继续核对人物范围与批准片段，读取结果登记本轮来源</a:t>
            </a:r>
          </a:p>
        </p:txBody>
      </p:sp>
      <p:sp>
        <p:nvSpPr>
          <p:cNvPr id="72" name="text-33">
            <a:extLst xmlns:a="http://schemas.openxmlformats.org/drawingml/2006/main">
              <a:ext uri="{FF2B5EF4-FFF2-40B4-BE49-F238E27FC236}">
                <a16:creationId xmlns:a16="http://schemas.microsoft.com/office/drawing/2014/main" id="{9E76AE06-C4AA-4FD4-9B32-730FEDF7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严格日期问法走确定性只读旁路；修订协议完成不代表语义已验证</a:t>
            </a:r>
          </a:p>
        </p:txBody>
      </p:sp>
    </p:spTree>
    <p:extLst>
      <p:ext uri="{BB962C8B-B14F-4D97-AF65-F5344CB8AC3E}">
        <p14:creationId xmlns:p14="http://schemas.microsoft.com/office/powerpoint/2010/main" val="12148031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4C0CD703-DAFC-40CE-B53E-EA036817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05  Agent 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182E998-67F4-41C3-89B5-1CD5D8C5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查询、记事与记忆日期追问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CFBDC04-82CC-483B-A6E2-965BA3D4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纯查询保持只读，严格日期问法重新读取记录后确定性回答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E6736DA3-1DD8-436D-9585-0CBEC704639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</a:ln>
        </p:spPr>
      </p:cxn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50DC8C4-4396-4D48-900A-5D729A17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49FFF083-BB05-4803-A64F-1DF93763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317660B-B6E9-4B85-BE01-33F03FE5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C6EA5-C8CD-4687-9BB7-C83595AEF5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35312f0ae44bf"/>
          <a:stretch xmlns:a="http://schemas.openxmlformats.org/drawingml/2006/main"/>
        </p:blipFill>
        <p:spPr>
          <a:xfrm xmlns:a="http://schemas.openxmlformats.org/drawingml/2006/main">
            <a:off x="1709738" y="2009775"/>
            <a:ext cx="5486400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91A6E37-9BBD-48CC-B5BB-0334007C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764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查询与混合输入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AB430C3-5256-42E9-955D-1E704E1C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0507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只有批准的原文记事片段能进入写入。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AE9CBE2-6F94-4DFA-945D-3F2425B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05175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失败明确说明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3B43B4E-36BA-4309-930B-E46971AA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733800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分类不可用时未写入，重新分析保留旧记录。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D474F81-9EB9-477F-A51D-6D5F9D6A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53390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严格日期问法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E0A23C9-BC05-4122-977D-6B2F8DD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62525"/>
            <a:ext cx="2905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区分所标、首次录入和人工编辑日期。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6C849EC-8A9D-4267-9E97-CC381868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17964442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D81494C4-04AA-481F-BB00-7F1E92D9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05  Agent 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0AE2A7A-586D-4175-ADBB-C73B79D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深度研究流水线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BF6FFBD-B6A0-4FA4-86ED-E32D80FD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先确认研究方向，再并行收集和复核公开资料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AF9B1-44A7-415F-B631-75BC33D4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B7FE9ED-3993-416C-B424-82C88622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0B04C16-DD23-4303-B351-26A28B3A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9B7B7DD-1B6D-44E0-B736-0A102E42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F4809-B03F-495B-B1FB-C78FDE826D2E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预检索并提出研究范围，等待用户确认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并行研究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最多 3 个专用方向分别检索和阅读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来源核对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结论附 URL，主模型按原文片段复核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报告合成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按来源与范围合成，逐步保存草稿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不足与重试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资料不足明确说明，重试跳过已有范围的草稿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2C72B29-D35F-4CF9-970C-DF38E497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这是专用研究编排，演示快照未包含研究报告</a:t>
            </a:r>
          </a:p>
        </p:txBody>
      </p:sp>
    </p:spTree>
    <p:extLst>
      <p:ext uri="{BB962C8B-B14F-4D97-AF65-F5344CB8AC3E}">
        <p14:creationId xmlns:p14="http://schemas.microsoft.com/office/powerpoint/2010/main" val="28854178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3A25E2-64EB-4C4B-BE6E-0CF3E87244B0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182100" y="3781425"/>
            <a:ext cx="342900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6030"/>
            </a:solidFill>
            <a:prstDash val="solid"/>
            <a:tailEnd type="triangle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C468E8-B329-4A1C-939A-46DCD3388313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9182100" y="2790825"/>
            <a:ext cx="342900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DEAE3-7DBF-48E6-9C2E-A7EEB8D7558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657350" y="4191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6030"/>
            </a:solidFill>
            <a:prstDash val="soli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F08F6-E039-4AFC-B56A-D219E9F170F2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657350" y="29146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sp>
        <p:nvSpPr>
          <p:cNvPr id="54" name="label-1">
            <a:extLst xmlns:a="http://schemas.openxmlformats.org/drawingml/2006/main">
              <a:ext uri="{FF2B5EF4-FFF2-40B4-BE49-F238E27FC236}">
                <a16:creationId xmlns:a16="http://schemas.microsoft.com/office/drawing/2014/main" id="{2B7AD94E-FB91-4C86-B7D4-D539C8EF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05  Agent 架构</a:t>
            </a:r>
          </a:p>
        </p:txBody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D30867B8-376E-4E4C-94B2-4735F3B1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研究并行编排图</a:t>
            </a:r>
          </a:p>
        </p:txBody>
      </p:sp>
      <p:sp>
        <p:nvSpPr>
          <p:cNvPr id="3" name="label-3">
            <a:extLst xmlns:a="http://schemas.openxmlformats.org/drawingml/2006/main">
              <a:ext uri="{FF2B5EF4-FFF2-40B4-BE49-F238E27FC236}">
                <a16:creationId xmlns:a16="http://schemas.microsoft.com/office/drawing/2014/main" id="{FF3A4155-9F82-45FA-B0DD-9E52F8AB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用户确认提案后，最多三个专用方向并行检索与阅读</a:t>
            </a:r>
          </a:p>
        </p:txBody>
      </p:sp>
      <p:cxnSp>
        <p:nvCxnSpPr>
          <p:cNvPr id="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A9424861-1312-4C82-996E-B5CB73DA25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" y="62674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EE6DF"/>
            </a:solidFill>
            <a:prstDash val="solid"/>
          </a:ln>
        </p:spPr>
      </p:cxnSp>
      <p:sp>
        <p:nvSpPr>
          <p:cNvPr id="5" name="label-5">
            <a:extLst xmlns:a="http://schemas.openxmlformats.org/drawingml/2006/main">
              <a:ext uri="{FF2B5EF4-FFF2-40B4-BE49-F238E27FC236}">
                <a16:creationId xmlns:a16="http://schemas.microsoft.com/office/drawing/2014/main" id="{109DEFBA-B0EC-41F8-92FE-31A6B56B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label-6">
            <a:extLst xmlns:a="http://schemas.openxmlformats.org/drawingml/2006/main">
              <a:ext uri="{FF2B5EF4-FFF2-40B4-BE49-F238E27FC236}">
                <a16:creationId xmlns:a16="http://schemas.microsoft.com/office/drawing/2014/main" id="{406C659D-B342-4B55-97EE-C19B5249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label-7">
            <a:extLst xmlns:a="http://schemas.openxmlformats.org/drawingml/2006/main">
              <a:ext uri="{FF2B5EF4-FFF2-40B4-BE49-F238E27FC236}">
                <a16:creationId xmlns:a16="http://schemas.microsoft.com/office/drawing/2014/main" id="{C7EE86EA-5A7F-4649-9696-980C3D1C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  <p:sp>
        <p:nvSpPr>
          <p:cNvPr id="8" name="research-topic">
            <a:extLst xmlns:a="http://schemas.openxmlformats.org/drawingml/2006/main">
              <a:ext uri="{FF2B5EF4-FFF2-40B4-BE49-F238E27FC236}">
                <a16:creationId xmlns:a16="http://schemas.microsoft.com/office/drawing/2014/main" id="{D705BC8A-F22B-4CFF-B10E-D138158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9" name="label-9">
            <a:extLst xmlns:a="http://schemas.openxmlformats.org/drawingml/2006/main">
              <a:ext uri="{FF2B5EF4-FFF2-40B4-BE49-F238E27FC236}">
                <a16:creationId xmlns:a16="http://schemas.microsoft.com/office/drawing/2014/main" id="{CAC5D15A-96B1-491C-891B-69DBE458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研究主题</a:t>
            </a:r>
          </a:p>
        </p:txBody>
      </p:sp>
      <p:sp>
        <p:nvSpPr>
          <p:cNvPr id="10" name="label-10">
            <a:extLst xmlns:a="http://schemas.openxmlformats.org/drawingml/2006/main">
              <a:ext uri="{FF2B5EF4-FFF2-40B4-BE49-F238E27FC236}">
                <a16:creationId xmlns:a16="http://schemas.microsoft.com/office/drawing/2014/main" id="{CE95C63B-AA91-4CBB-9BED-D053E2C7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或公开 URL</a:t>
            </a:r>
          </a:p>
        </p:txBody>
      </p:sp>
      <p:sp>
        <p:nvSpPr>
          <p:cNvPr id="11" name="research-proposal">
            <a:extLst xmlns:a="http://schemas.openxmlformats.org/drawingml/2006/main">
              <a:ext uri="{FF2B5EF4-FFF2-40B4-BE49-F238E27FC236}">
                <a16:creationId xmlns:a16="http://schemas.microsoft.com/office/drawing/2014/main" id="{E6327EA2-21F2-486F-A78C-9B70B108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2" name="label-12">
            <a:extLst xmlns:a="http://schemas.openxmlformats.org/drawingml/2006/main">
              <a:ext uri="{FF2B5EF4-FFF2-40B4-BE49-F238E27FC236}">
                <a16:creationId xmlns:a16="http://schemas.microsoft.com/office/drawing/2014/main" id="{4B22102D-D5D9-4374-BD77-504ED0C7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研究提案</a:t>
            </a:r>
          </a:p>
        </p:txBody>
      </p:sp>
      <p:sp>
        <p:nvSpPr>
          <p:cNvPr id="13" name="label-13">
            <a:extLst xmlns:a="http://schemas.openxmlformats.org/drawingml/2006/main">
              <a:ext uri="{FF2B5EF4-FFF2-40B4-BE49-F238E27FC236}">
                <a16:creationId xmlns:a16="http://schemas.microsoft.com/office/drawing/2014/main" id="{94FE1302-B46F-495E-BE96-DE07898F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预检索与范围确认</a:t>
            </a:r>
          </a:p>
        </p:txBody>
      </p:sp>
      <p:sp>
        <p:nvSpPr>
          <p:cNvPr id="14" name="research-confirm">
            <a:extLst xmlns:a="http://schemas.openxmlformats.org/drawingml/2006/main">
              <a:ext uri="{FF2B5EF4-FFF2-40B4-BE49-F238E27FC236}">
                <a16:creationId xmlns:a16="http://schemas.microsoft.com/office/drawing/2014/main" id="{22F696C7-86B5-4BF2-9316-684B4258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8"/>
          </a:solidFill>
          <a:ln xmlns:a="http://schemas.openxmlformats.org/drawingml/2006/main" w="14288">
            <a:solidFill>
              <a:srgbClr val="9B6030"/>
            </a:solidFill>
          </a:ln>
        </p:spPr>
      </p:sp>
      <p:sp>
        <p:nvSpPr>
          <p:cNvPr id="15" name="label-15">
            <a:extLst xmlns:a="http://schemas.openxmlformats.org/drawingml/2006/main">
              <a:ext uri="{FF2B5EF4-FFF2-40B4-BE49-F238E27FC236}">
                <a16:creationId xmlns:a16="http://schemas.microsoft.com/office/drawing/2014/main" id="{F6422051-1F22-449D-8EC2-6C46A58B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用户确认</a:t>
            </a:r>
          </a:p>
        </p:txBody>
      </p:sp>
      <p:sp>
        <p:nvSpPr>
          <p:cNvPr id="16" name="label-16">
            <a:extLst xmlns:a="http://schemas.openxmlformats.org/drawingml/2006/main">
              <a:ext uri="{FF2B5EF4-FFF2-40B4-BE49-F238E27FC236}">
                <a16:creationId xmlns:a16="http://schemas.microsoft.com/office/drawing/2014/main" id="{93C644CF-E3BC-4E53-802E-4CCE6FB3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确认后启动研究</a:t>
            </a:r>
          </a:p>
        </p:txBody>
      </p:sp>
      <p:sp>
        <p:nvSpPr>
          <p:cNvPr id="17" name="research-direction-1">
            <a:extLst xmlns:a="http://schemas.openxmlformats.org/drawingml/2006/main">
              <a:ext uri="{FF2B5EF4-FFF2-40B4-BE49-F238E27FC236}">
                <a16:creationId xmlns:a16="http://schemas.microsoft.com/office/drawing/2014/main" id="{895B1D00-060A-4C83-956D-445D7DBE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955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18" name="label-18">
            <a:extLst xmlns:a="http://schemas.openxmlformats.org/drawingml/2006/main">
              <a:ext uri="{FF2B5EF4-FFF2-40B4-BE49-F238E27FC236}">
                <a16:creationId xmlns:a16="http://schemas.microsoft.com/office/drawing/2014/main" id="{ED856CDB-6280-4359-B89D-EE5786F6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098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方向 A</a:t>
            </a:r>
          </a:p>
        </p:txBody>
      </p:sp>
      <p:sp>
        <p:nvSpPr>
          <p:cNvPr id="19" name="label-19">
            <a:extLst xmlns:a="http://schemas.openxmlformats.org/drawingml/2006/main">
              <a:ext uri="{FF2B5EF4-FFF2-40B4-BE49-F238E27FC236}">
                <a16:creationId xmlns:a16="http://schemas.microsoft.com/office/drawing/2014/main" id="{CBA91029-2898-4857-9968-0108B9B8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812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检索与阅读</a:t>
            </a:r>
          </a:p>
        </p:txBody>
      </p:sp>
      <p:sp>
        <p:nvSpPr>
          <p:cNvPr id="20" name="research-direction-2">
            <a:extLst xmlns:a="http://schemas.openxmlformats.org/drawingml/2006/main">
              <a:ext uri="{FF2B5EF4-FFF2-40B4-BE49-F238E27FC236}">
                <a16:creationId xmlns:a16="http://schemas.microsoft.com/office/drawing/2014/main" id="{8D25D24B-B68C-4BD4-8AB4-07AC6782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718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1" name="label-21">
            <a:extLst xmlns:a="http://schemas.openxmlformats.org/drawingml/2006/main">
              <a:ext uri="{FF2B5EF4-FFF2-40B4-BE49-F238E27FC236}">
                <a16:creationId xmlns:a16="http://schemas.microsoft.com/office/drawing/2014/main" id="{D0E4E069-BA6F-4367-8A43-0D1BB173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861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方向 B</a:t>
            </a:r>
          </a:p>
        </p:txBody>
      </p:sp>
      <p:sp>
        <p:nvSpPr>
          <p:cNvPr id="22" name="label-22">
            <a:extLst xmlns:a="http://schemas.openxmlformats.org/drawingml/2006/main">
              <a:ext uri="{FF2B5EF4-FFF2-40B4-BE49-F238E27FC236}">
                <a16:creationId xmlns:a16="http://schemas.microsoft.com/office/drawing/2014/main" id="{B913F116-CAE3-4D6F-ADDD-71F01C5B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576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检索与阅读</a:t>
            </a:r>
          </a:p>
        </p:txBody>
      </p:sp>
      <p:sp>
        <p:nvSpPr>
          <p:cNvPr id="23" name="research-direction-3">
            <a:extLst xmlns:a="http://schemas.openxmlformats.org/drawingml/2006/main">
              <a:ext uri="{FF2B5EF4-FFF2-40B4-BE49-F238E27FC236}">
                <a16:creationId xmlns:a16="http://schemas.microsoft.com/office/drawing/2014/main" id="{EE3F7FE0-81A5-491A-A6BC-B8E5756A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482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4" name="label-24">
            <a:extLst xmlns:a="http://schemas.openxmlformats.org/drawingml/2006/main">
              <a:ext uri="{FF2B5EF4-FFF2-40B4-BE49-F238E27FC236}">
                <a16:creationId xmlns:a16="http://schemas.microsoft.com/office/drawing/2014/main" id="{6BED96B2-B8F1-43F1-AAE4-8834FC26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625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方向 C</a:t>
            </a:r>
          </a:p>
        </p:txBody>
      </p:sp>
      <p:sp>
        <p:nvSpPr>
          <p:cNvPr id="25" name="label-25">
            <a:extLst xmlns:a="http://schemas.openxmlformats.org/drawingml/2006/main">
              <a:ext uri="{FF2B5EF4-FFF2-40B4-BE49-F238E27FC236}">
                <a16:creationId xmlns:a16="http://schemas.microsoft.com/office/drawing/2014/main" id="{CED08233-09EF-4A81-A21D-73F9E7A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3397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检索与阅读</a:t>
            </a:r>
          </a:p>
        </p:txBody>
      </p:sp>
      <p:sp>
        <p:nvSpPr>
          <p:cNvPr id="26" name="research-source-review">
            <a:extLst xmlns:a="http://schemas.openxmlformats.org/drawingml/2006/main">
              <a:ext uri="{FF2B5EF4-FFF2-40B4-BE49-F238E27FC236}">
                <a16:creationId xmlns:a16="http://schemas.microsoft.com/office/drawing/2014/main" id="{01DBC593-6156-4AB1-BE21-84F070C8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27" name="label-27">
            <a:extLst xmlns:a="http://schemas.openxmlformats.org/drawingml/2006/main">
              <a:ext uri="{FF2B5EF4-FFF2-40B4-BE49-F238E27FC236}">
                <a16:creationId xmlns:a16="http://schemas.microsoft.com/office/drawing/2014/main" id="{169A1586-2934-4447-A815-A6345B63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来源复核</a:t>
            </a:r>
          </a:p>
        </p:txBody>
      </p:sp>
      <p:sp>
        <p:nvSpPr>
          <p:cNvPr id="28" name="label-28">
            <a:extLst xmlns:a="http://schemas.openxmlformats.org/drawingml/2006/main">
              <a:ext uri="{FF2B5EF4-FFF2-40B4-BE49-F238E27FC236}">
                <a16:creationId xmlns:a16="http://schemas.microsoft.com/office/drawing/2014/main" id="{481B796A-0634-4DCD-B5C9-46776EF6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57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URL 与原文片段</a:t>
            </a:r>
          </a:p>
        </p:txBody>
      </p:sp>
      <p:sp>
        <p:nvSpPr>
          <p:cNvPr id="29" name="research-report">
            <a:extLst xmlns:a="http://schemas.openxmlformats.org/drawingml/2006/main">
              <a:ext uri="{FF2B5EF4-FFF2-40B4-BE49-F238E27FC236}">
                <a16:creationId xmlns:a16="http://schemas.microsoft.com/office/drawing/2014/main" id="{D0CB66AA-36FD-4326-A440-E2F39288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1"/>
          </a:solidFill>
          <a:ln xmlns:a="http://schemas.openxmlformats.org/drawingml/2006/main" w="14288">
            <a:solidFill>
              <a:srgbClr val="1D6B50"/>
            </a:solidFill>
          </a:ln>
        </p:spPr>
      </p:sp>
      <p:sp>
        <p:nvSpPr>
          <p:cNvPr id="30" name="label-30">
            <a:extLst xmlns:a="http://schemas.openxmlformats.org/drawingml/2006/main">
              <a:ext uri="{FF2B5EF4-FFF2-40B4-BE49-F238E27FC236}">
                <a16:creationId xmlns:a16="http://schemas.microsoft.com/office/drawing/2014/main" id="{C78FD707-B033-42B6-BFA4-F082559D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报告与来源</a:t>
            </a:r>
          </a:p>
        </p:txBody>
      </p:sp>
      <p:sp>
        <p:nvSpPr>
          <p:cNvPr id="31" name="label-31">
            <a:extLst xmlns:a="http://schemas.openxmlformats.org/drawingml/2006/main">
              <a:ext uri="{FF2B5EF4-FFF2-40B4-BE49-F238E27FC236}">
                <a16:creationId xmlns:a16="http://schemas.microsoft.com/office/drawing/2014/main" id="{B7DA51BA-C157-4BC8-8166-1F17D6F7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670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结论、来源与局限</a:t>
            </a:r>
          </a:p>
        </p:txBody>
      </p:sp>
      <p:sp>
        <p:nvSpPr>
          <p:cNvPr id="32" name="research-insufficient">
            <a:extLst xmlns:a="http://schemas.openxmlformats.org/drawingml/2006/main">
              <a:ext uri="{FF2B5EF4-FFF2-40B4-BE49-F238E27FC236}">
                <a16:creationId xmlns:a16="http://schemas.microsoft.com/office/drawing/2014/main" id="{8580BF1E-A246-4734-874E-1185988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62450"/>
            <a:ext cx="2057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E8"/>
          </a:solidFill>
          <a:ln xmlns:a="http://schemas.openxmlformats.org/drawingml/2006/main" w="14288">
            <a:solidFill>
              <a:srgbClr val="9B6030"/>
            </a:solidFill>
          </a:ln>
        </p:spPr>
      </p:sp>
      <p:sp>
        <p:nvSpPr>
          <p:cNvPr id="33" name="label-33">
            <a:extLst xmlns:a="http://schemas.openxmlformats.org/drawingml/2006/main">
              <a:ext uri="{FF2B5EF4-FFF2-40B4-BE49-F238E27FC236}">
                <a16:creationId xmlns:a16="http://schemas.microsoft.com/office/drawing/2014/main" id="{7D89C11F-C5F3-4CCD-82AE-97A68F03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767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资料不足说明</a:t>
            </a:r>
          </a:p>
        </p:txBody>
      </p:sp>
      <p:sp>
        <p:nvSpPr>
          <p:cNvPr id="34" name="label-34">
            <a:extLst xmlns:a="http://schemas.openxmlformats.org/drawingml/2006/main">
              <a:ext uri="{FF2B5EF4-FFF2-40B4-BE49-F238E27FC236}">
                <a16:creationId xmlns:a16="http://schemas.microsoft.com/office/drawing/2014/main" id="{DE741085-A2ED-4456-AB08-7729778B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48225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buNone/>
              <a:def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63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保留局限与缺口</a:t>
            </a:r>
          </a:p>
        </p:txBody>
      </p:sp>
      <p:cxnSp>
        <p:nvCxnSpPr>
          <p:cNvPr id="37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8F0A2FB0-4789-45E6-A2CC-E0291CC363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05100" y="5057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</a:ln>
        </p:spPr>
      </p:cxnSp>
      <p:cxnSp>
        <p:nvCxnSpPr>
          <p:cNvPr id="38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ECE246FE-B478-487C-B06F-544036E4FEB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276600" y="2505075"/>
            <a:ext cx="0" cy="2552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</a:ln>
        </p:spPr>
      </p:cxnSp>
      <p:cxnSp>
        <p:nvCxnSpPr>
          <p:cNvPr id="39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05526F10-3338-42AF-90FC-64397FACA2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76600" y="25050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40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0A0E143B-E9F1-4B6F-872D-88D6BA3235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76600" y="3781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41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2364005A-B209-406E-83CB-289F588BAF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76600" y="5057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cxnSp>
        <p:nvCxnSpPr>
          <p:cNvPr id="42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423B71AB-8181-45F9-B1C7-C571EE0E60B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67500" y="2505075"/>
            <a:ext cx="0" cy="2552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</a:ln>
        </p:spPr>
      </p:cxnSp>
      <p:cxnSp>
        <p:nvCxnSpPr>
          <p:cNvPr id="43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DEB61029-A366-4B46-AA9F-7DA32A1A5C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34100" y="25050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</a:ln>
        </p:spPr>
      </p:cxnSp>
      <p:cxnSp>
        <p:nvCxnSpPr>
          <p:cNvPr id="44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230BCE4F-000E-4AE7-BEF8-B314C98CB7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34100" y="37814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</a:ln>
        </p:spPr>
      </p:cxnSp>
      <p:cxnSp>
        <p:nvCxnSpPr>
          <p:cNvPr id="45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848536E2-7E54-4DEB-AB5A-84271E02A19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34100" y="505777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</a:ln>
        </p:spPr>
      </p:cxnSp>
      <p:cxnSp>
        <p:nvCxnSpPr>
          <p:cNvPr id="46" name="flow-connector">
            <a:extLst xmlns:a="http://schemas.openxmlformats.org/drawingml/2006/main">
              <a:ext uri="{FF2B5EF4-FFF2-40B4-BE49-F238E27FC236}">
                <a16:creationId xmlns:a16="http://schemas.microsoft.com/office/drawing/2014/main" id="{FAD1B4F0-E8F3-4FDC-8A73-741F0DD3F38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67500" y="37814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6B50"/>
            </a:solidFill>
            <a:prstDash val="solid"/>
            <a:tailEnd type="triangle" w="med" len="med"/>
          </a:ln>
        </p:spPr>
      </p:cxnSp>
      <p:sp>
        <p:nvSpPr>
          <p:cNvPr id="49" name="label-49">
            <a:extLst xmlns:a="http://schemas.openxmlformats.org/drawingml/2006/main">
              <a:ext uri="{FF2B5EF4-FFF2-40B4-BE49-F238E27FC236}">
                <a16:creationId xmlns:a16="http://schemas.microsoft.com/office/drawing/2014/main" id="{F04C8305-35DA-4251-B4B7-108C56BE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861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存在可核验结论</a:t>
            </a:r>
          </a:p>
        </p:txBody>
      </p:sp>
      <p:sp>
        <p:nvSpPr>
          <p:cNvPr id="50" name="label-50">
            <a:extLst xmlns:a="http://schemas.openxmlformats.org/drawingml/2006/main">
              <a:ext uri="{FF2B5EF4-FFF2-40B4-BE49-F238E27FC236}">
                <a16:creationId xmlns:a16="http://schemas.microsoft.com/office/drawing/2014/main" id="{31CBBDDB-2B29-4EAA-AAE8-4777936E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81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无可核验结论</a:t>
            </a:r>
          </a:p>
        </p:txBody>
      </p:sp>
      <p:sp>
        <p:nvSpPr>
          <p:cNvPr id="51" name="label-51">
            <a:extLst xmlns:a="http://schemas.openxmlformats.org/drawingml/2006/main">
              <a:ext uri="{FF2B5EF4-FFF2-40B4-BE49-F238E27FC236}">
                <a16:creationId xmlns:a16="http://schemas.microsoft.com/office/drawing/2014/main" id="{21EEC588-2F2F-468D-B96F-40689B3A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483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草稿按方向持久保存</a:t>
            </a:r>
          </a:p>
        </p:txBody>
      </p:sp>
      <p:sp>
        <p:nvSpPr>
          <p:cNvPr id="52" name="label-52">
            <a:extLst xmlns:a="http://schemas.openxmlformats.org/drawingml/2006/main">
              <a:ext uri="{FF2B5EF4-FFF2-40B4-BE49-F238E27FC236}">
                <a16:creationId xmlns:a16="http://schemas.microsoft.com/office/drawing/2014/main" id="{0C58F9C9-8B07-4DE9-AE19-0F0068C6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34000"/>
            <a:ext cx="449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重试可复用已有草稿</a:t>
            </a:r>
          </a:p>
        </p:txBody>
      </p:sp>
      <p:sp>
        <p:nvSpPr>
          <p:cNvPr id="53" name="label-53">
            <a:extLst xmlns:a="http://schemas.openxmlformats.org/drawingml/2006/main">
              <a:ext uri="{FF2B5EF4-FFF2-40B4-BE49-F238E27FC236}">
                <a16:creationId xmlns:a16="http://schemas.microsoft.com/office/drawing/2014/main" id="{A137B6FC-F7D7-4EEC-B18D-C8405E62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公开网页通过 HTTP 获取，属于专用研究流程，当前演示快照无研究报告。</a:t>
            </a:r>
          </a:p>
        </p:txBody>
      </p:sp>
    </p:spTree>
    <p:extLst>
      <p:ext uri="{BB962C8B-B14F-4D97-AF65-F5344CB8AC3E}">
        <p14:creationId xmlns:p14="http://schemas.microsoft.com/office/powerpoint/2010/main" val="12655274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8FBB8FB2-91EB-48F8-B96D-BD7B84F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05  Agent 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F3E2DFC-A6A7-4974-B26B-B142C9A4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持久任务与恢复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52139F6-36B5-4356-AB85-8E705675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刷新后能继续查看，进程中断有明确状态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40FA3-1C07-44DE-B613-B16A5138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737CFE5-8772-42CA-A10D-AEF78F37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219735E-3145-4F0C-8945-32AC6FCA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A284984-A38E-49BE-8074-87DF485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D4FB1-FC44-4095-87E2-DB0F64748D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5455979394d4b"/>
          <a:stretch xmlns:a="http://schemas.openxmlformats.org/drawingml/2006/main"/>
        </p:blipFill>
        <p:spPr>
          <a:xfrm xmlns:a="http://schemas.openxmlformats.org/drawingml/2006/main">
            <a:off x="1945864" y="2009775"/>
            <a:ext cx="2280472" cy="3810000"/>
          </a:xfrm>
          <a:prstGeom xmlns:a="http://schemas.openxmlformats.org/drawingml/2006/main" prst="rect">
            <a:avLst/>
          </a:prstGeom>
        </p:spPr>
      </p:pic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49DE8CF8-8426-4A42-A8A5-C5B53A84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状态与事件持久化</a:t>
            </a:r>
          </a:p>
        </p:txBody>
      </p:sp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7E587E16-E1F2-4E1E-9453-B5D822D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刷新后读取任务结果和 SSE 游标。</a:t>
            </a:r>
          </a:p>
        </p:txBody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9A658140-2451-412E-9027-E6F29C21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取消与重试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DCCC7434-DE66-45DA-8D97-5BFEAC09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检查点取消，已提交数据保留。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97AC750C-554C-419F-8608-38AA6F28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539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中断有明确状态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EC8DBC2A-5272-42C1-A875-26F93017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3911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排队任务重调度，执行中任务标记中断。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489A1AE4-FE8F-43FE-81FB-C1452CD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实际运行界面，全部使用虚构演示资料</a:t>
            </a:r>
          </a:p>
        </p:txBody>
      </p:sp>
    </p:spTree>
    <p:extLst>
      <p:ext uri="{BB962C8B-B14F-4D97-AF65-F5344CB8AC3E}">
        <p14:creationId xmlns:p14="http://schemas.microsoft.com/office/powerpoint/2010/main" val="44973296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">
            <a:extLst xmlns:a="http://schemas.openxmlformats.org/drawingml/2006/main">
              <a:ext uri="{FF2B5EF4-FFF2-40B4-BE49-F238E27FC236}">
                <a16:creationId xmlns:a16="http://schemas.microsoft.com/office/drawing/2014/main" id="{3C80A1C6-E986-4860-B890-2A94CA4F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05  Agent 架构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52AE1E3-9E00-4F37-A008-EC508203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提醒、日志与周反思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317D58A-1BD7-4ACF-8B1A-60E166CD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定时任务把近期活动整理为可回看的资料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3FAAA-ADE4-4418-BAE0-B95E4EEE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CB7B146-0FD8-48AB-942A-9ABB1BDF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EFB2EBE-F84A-4FF8-B4CD-025ECC30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F69C698-B1DB-42A8-B3E1-19160584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6570B951-C245-4175-AC1C-1C87EE1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提醒扫描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EC7AF28-DC1B-4881-B1D6-97650460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66925"/>
            <a:ext cx="868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每分钟检查到期提醒，浏览器通知需要用户授权。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F5D91-1B31-464D-A8D4-E762FD93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9854142-2C44-4AC6-826A-F2676948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每日日志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6404CD36-9250-442B-8B36-BADAA372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0375"/>
            <a:ext cx="868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默认本地时间 23:50，总结当天交流、承诺与往来。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6D374-EFA3-482F-B86D-FD6AE5C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458C64F9-9CE1-47EB-89CD-1EE5AF0C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每周反思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C6E38145-C869-41DB-89C3-3E9CCF88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33825"/>
            <a:ext cx="868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周日 23:00，根据近 7 天事件归纳 1–3 条相处经验。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84061-08E7-4586-9E0E-193C4CFA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20A3A4A7-9338-42FB-8ADC-F9D91AAE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经验使用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342BF471-3D78-4258-A73F-F39502D7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67275"/>
            <a:ext cx="868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技能和反思帮助后续起草与回顾，用户仍需判断是否适用。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26DB03D8-C500-40F3-B9E2-F70D93A4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仅服务进程运行期间执行，最近一轮 QA 未验证日志生成</a:t>
            </a:r>
          </a:p>
        </p:txBody>
      </p:sp>
    </p:spTree>
    <p:extLst>
      <p:ext uri="{BB962C8B-B14F-4D97-AF65-F5344CB8AC3E}">
        <p14:creationId xmlns:p14="http://schemas.microsoft.com/office/powerpoint/2010/main" val="2434465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FD919D34-151A-4A0A-834C-F6C2010D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06  运行与数据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8943801-C368-4812-B87C-494834CF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模型角色与配置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3A4A29D-CEB9-416F-94A3-555C0C61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模型名称和网关由本地配置决定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321CC-7364-4ECD-B074-B903A708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792AF1A-2B85-4BBE-BC0F-16710188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4B90DE2-8A92-4EDC-9041-ADB69F6A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87372CA-EAA1-472C-9369-38248ECC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4A8A1-1162-44C7-A79C-E98201B129ED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810125"/>
                <a:gridCol w="3924300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模型角色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配置项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对话、工具调用、结构化抽取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HOME_MODEL_MID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 / think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轻量摘要 / 来源审查与归纳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HOME_MODEL_MINI / THINK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pro / vision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研究合成 / 图片转写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HOME_MODEL_PRO / VISION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embed（可选）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向量检索，留空则不启用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HOME_MODEL_EMBED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连接与路径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.env 与环境变量，环境变量优先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HOME_LLM_BASE_URL 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23EC78A-BC24-4F8F-A1E6-D054D06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角色分工可以复用同一个模型，连接“已配置”不代表认证或额度已通过</a:t>
            </a:r>
          </a:p>
        </p:txBody>
      </p:sp>
    </p:spTree>
    <p:extLst>
      <p:ext uri="{BB962C8B-B14F-4D97-AF65-F5344CB8AC3E}">
        <p14:creationId xmlns:p14="http://schemas.microsoft.com/office/powerpoint/2010/main" val="101603643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">
            <a:extLst xmlns:a="http://schemas.openxmlformats.org/drawingml/2006/main">
              <a:ext uri="{FF2B5EF4-FFF2-40B4-BE49-F238E27FC236}">
                <a16:creationId xmlns:a16="http://schemas.microsoft.com/office/drawing/2014/main" id="{F06BF7C3-9DC1-4ACA-A2FA-11421AFA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06  运行与数据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31DD3A5-5319-4774-BD90-77C0FE34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数据存储与隐私边界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5A22F65-0BC1-4670-88A8-98741EAE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本地保存资料，模型推理会发送相关内容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6C7B5-AA3E-42E5-9A5B-9EECD38A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55C0D0B-02DA-481A-BE0A-71A83E2A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9036CFE-89DF-4A57-8AC6-4380ED30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3A15626-A6C1-4804-9684-F776323C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CF5565A-A528-4ADC-BDCF-3CFC77B8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本地资料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F66B1D41-0180-488D-88E4-59E643E5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66925"/>
            <a:ext cx="8734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SQLite 保存结构化数据与会话，原始附件按 SHA-256 文件存储。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85285-8020-460A-B5E1-9BC059C2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B9E75F86-7929-453D-B438-23771906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外部推理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1DA07F9C-E84E-4ABC-94DA-8DAF6F7A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00375"/>
            <a:ext cx="8734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抽取、对话、视觉和归纳会向配置的模型 API 发送相关文本或图片。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19567-2F63-4C82-A99E-02385B6D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84E4D8E7-0DCC-4D95-BC5D-9E171D7A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单用户边界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83EA0363-7EA3-47E7-8E7F-FE895178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933825"/>
            <a:ext cx="8734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没有登录、多租户隔离、独立权限服务或通用沙箱。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FFF10-5761-4347-A8CA-D85D5A44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F568A6AE-C7AD-489B-B1EB-82B74A63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归档与清除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5345D793-2804-43E1-A7C8-7A650D1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67275"/>
            <a:ext cx="8734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归档隐藏不等于彻底删除，历史对话和共享原文可能仍含人物信息。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6B52860F-47D5-4063-A3CA-EE7F50CC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当前适合本机个人使用，对公网提供服务需要补充认证与部署设计</a:t>
            </a:r>
          </a:p>
        </p:txBody>
      </p:sp>
    </p:spTree>
    <p:extLst>
      <p:ext uri="{BB962C8B-B14F-4D97-AF65-F5344CB8AC3E}">
        <p14:creationId xmlns:p14="http://schemas.microsoft.com/office/powerpoint/2010/main" val="169037482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6304CEDD-49FC-4210-BBC5-93507D62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06  运行与数据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5AD461C-2E8C-4214-97B3-E2AAA238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演示数据快照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6C036D9-00E9-42ED-AEE9-FD66D26B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2026-10-19 快照，全部资料为虚构演示数据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A22B9-FCDE-4600-AD62-09DC65AB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618E849-6D56-41BD-A5B6-AA9E1F18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BC939D8-A1B0-4250-A93B-F0956DFB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D470205-4723-4AFD-8E77-B52D4E6D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CBDAD008-FFA8-4464-8899-1D3BF0EE3C7C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7477125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5b11295c614615"/>
          </a:graphicData>
        </a:graphic>
      </p:graphicFrame>
      <p:sp>
        <p:nvSpPr>
          <p:cNvPr id="18" name="text-8">
            <a:extLst xmlns:a="http://schemas.openxmlformats.org/drawingml/2006/main">
              <a:ext uri="{FF2B5EF4-FFF2-40B4-BE49-F238E27FC236}">
                <a16:creationId xmlns:a16="http://schemas.microsoft.com/office/drawing/2014/main" id="{8AB6F5D2-CFE3-401C-86DE-A595FE0C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14550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71 位人物</a:t>
            </a:r>
          </a:p>
        </p:txBody>
      </p:sp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223589A4-0E2D-4F7A-8571-2F7BE21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60985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66 位可见，5 位归档</a:t>
            </a:r>
          </a:p>
        </p:txBody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83E091BC-D49C-4BB5-BDC1-B77D286C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19475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9 个会话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09D3011D-ACBC-4DAB-B4CD-769D6B0B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9052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47 条存储消息</a:t>
            </a:r>
          </a:p>
          <a:p xmlns:a="http://schemas.openxmlformats.org/drawingml/2006/main">
            <a: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其中 5 条工具消息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48AEC205-9772-4A91-9172-17378B1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867275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处理历史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49B6AE4B-21BB-40D8-A0F8-AE7E17DA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324475"/>
            <a:ext cx="2905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5 条提案已确认</a:t>
            </a:r>
          </a:p>
          <a:p xmlns:a="http://schemas.openxmlformats.org/drawingml/2006/main">
            <a:pPr algn="l">
              <a:def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1 条已丢弃，无待审阅</a:t>
            </a:r>
          </a:p>
        </p:txBody>
      </p:sp>
      <p:sp>
        <p:nvSpPr>
          <p:cNvPr id="24" name="text-14">
            <a:extLst xmlns:a="http://schemas.openxmlformats.org/drawingml/2006/main">
              <a:ext uri="{FF2B5EF4-FFF2-40B4-BE49-F238E27FC236}">
                <a16:creationId xmlns:a16="http://schemas.microsoft.com/office/drawing/2014/main" id="{849924A2-BB9D-4882-AFD5-440E00B0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3 项目、30 任务、3 附件、无研究报告；对象与状态口径不同，不作加总</a:t>
            </a:r>
          </a:p>
        </p:txBody>
      </p:sp>
    </p:spTree>
    <p:extLst>
      <p:ext uri="{BB962C8B-B14F-4D97-AF65-F5344CB8AC3E}">
        <p14:creationId xmlns:p14="http://schemas.microsoft.com/office/powerpoint/2010/main" val="56780824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8C551974-8EE0-4C4F-AA35-929B78CF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07  验证与边界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85B2D36-ABC9-4CF5-BBE0-D323008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已有验证证据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2270230-C166-479F-81BE-0A398879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确定性规则、模型抽取与界面检查分别看待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56E86-7A1D-48C4-9C65-5EB9144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89AB551-D217-4424-AC2D-424F876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5F72DCD-718D-4701-938E-8DC423D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44B21BD-458E-47D1-BC7A-E7253690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A18BE-F278-413B-8C34-F730BD4F5549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381500"/>
                <a:gridCol w="4067175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验证范围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结果与时间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能够说明什么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当前离线回归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1139 项通过，2026-10-19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规则、状态、API 与任务行为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0.10 真实问答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 答，确定性检查 308/309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JSON 故障保守只读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自然问法检索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Recall@5=.70，MRR@5=.80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虚构开发集，禁用网络与向量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0.11 页面交互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320—1440 宽度，核心页面无溢出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导航、历史、页签及保存刷新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数据可迁移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完整性、外键、附件与引用检查通过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763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演示库和附件可跨机器恢复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6BA1926-FEAC-4B00-8B07-C39E6098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9B6030"/>
                </a:solidFill>
                <a:latin typeface="Hiragino Sans GB"/>
                <a:ea typeface="Hiragino Sans GB"/>
                <a:cs typeface="Hiragino Sans GB"/>
              </a:rPr>
              <a:t>确定性检查与开发集指标不等于回答准确率；反例和限制仍保留</a:t>
            </a:r>
          </a:p>
        </p:txBody>
      </p:sp>
    </p:spTree>
    <p:extLst>
      <p:ext uri="{BB962C8B-B14F-4D97-AF65-F5344CB8AC3E}">
        <p14:creationId xmlns:p14="http://schemas.microsoft.com/office/powerpoint/2010/main" val="17500636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A74CE4BB-F849-4E91-9BCE-32DD3DAE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07  验证与边界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2A24BFE-43B3-4C29-927A-30DBF978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当前能力的限制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0C6E849-5EFA-4509-ADB6-0E22E46E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尚未覆盖的工作会影响使用范围与可靠性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B3631-E369-45C5-87C0-59E32C04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CE5DE1D-E16A-4D0A-A9DF-254D3960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06112E3-41C6-49DA-9453-6A338080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A3E0436-6091-4E35-B233-308189B3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E4D2C-24D9-4386-976D-B644903E6AF2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当前限制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数据接入与执行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没有 IM 自动同步、外发消息、登录浏览器操作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输入媒体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没有录音 ASR 或视频分析，扫描 PDF 不逐页 OCR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运行保障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进程停止后不执行，普通任务无任意步骤自动续跑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记忆与模型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仍有漏召回、日期误述和追问断源，向量未启用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产品与部署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无多用户权限，无生产部署方案，无依赖锁文件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91527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290B6A89-ECBC-495A-B0B6-4267325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08  部署与后续方向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78D6618-0116-4896-9F5D-CB00758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部署与跨机器恢复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78BF946-3AD8-4FC1-A927-D7CD221D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代码、演示快照和个人运行数据分别维护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B071B-EC27-487B-AB3A-C86F7FCC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A93044D-184D-450E-99DC-E86CFF8D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A0E1A78-C45E-4218-B0A9-CFD0C4AB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E86A9AF-E51B-4F9A-9003-561A57B1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F7319-9669-421A-8317-4ABF1E27FECF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8639175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当前做法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 准备环境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Python 3.11+，安装 requirements.txt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 配置连接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 .env 填写网关与密钥，环境变量可覆盖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 恢复演示数据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python -m scripts.restore_demo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 启动工作台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python -m uvicorn app.api.main:app --host 127.0.0.1 --port 8000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  持续保存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运行数据进入 data/，固定 demo/ 快照随仓库携带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CA6FD06-3961-40D4-A4B6-10AEB39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恢复会验证附件哈希并拒绝覆盖已有数据库，另一台机器需单独配置密钥</a:t>
            </a:r>
          </a:p>
        </p:txBody>
      </p:sp>
    </p:spTree>
    <p:extLst>
      <p:ext uri="{BB962C8B-B14F-4D97-AF65-F5344CB8AC3E}">
        <p14:creationId xmlns:p14="http://schemas.microsoft.com/office/powerpoint/2010/main" val="183177627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7B598E1D-B43E-4A3C-BE91-490A0218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08  部署与后续方向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E7CE1B9-F8B4-4BCC-A3AA-742E5789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下一阶段的验证顺序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714A6D8-1453-43AE-B7FB-CC87DC05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闭环已实现，继续验证质量与价值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C5667-31B8-487B-9E5B-0EC45B7C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46C0086-DE25-4471-84A7-2C50345B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9A833F6-05ED-4DA3-A12C-C34E461D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3578E4B-3313-45D7-844D-9C1345E0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9963D-BA68-43A5-8503-C285B788A51A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762500"/>
                <a:gridCol w="3971925"/>
              </a:tblGrid>
              <a:tr h="7239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建议方向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完成标准示例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7239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P0  回答可靠性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日期角色、冲突追问、取源连续性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保留失败反例，增加独立语义审阅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P1  真实使用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连续使用现有准备、结果与提案闭环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观察准备耗时、遗漏和人工修改量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7239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P2  运行保障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依赖锁定、故障恢复与部署约束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故障与跨机器恢复可复现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P3  谨慎扩展行动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有需求证据后再做连接器与外部执行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38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授权、最小权限、操作日志与撤销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</a:tbl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4C4D17E-6B7E-485E-8187-2A2F6CA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路线为后续建议；现有闭环、纠错与引用能力继续回归验证</a:t>
            </a:r>
          </a:p>
        </p:txBody>
      </p:sp>
    </p:spTree>
    <p:extLst>
      <p:ext uri="{BB962C8B-B14F-4D97-AF65-F5344CB8AC3E}">
        <p14:creationId xmlns:p14="http://schemas.microsoft.com/office/powerpoint/2010/main" val="14431965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5B76C3DD-E152-4DB7-8A2A-B1CAE907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08  部署与后续方向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0B539D0-64D1-4563-AF06-01317ECD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后续验证指标建议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3AD259A-FEE3-4EEC-9A08-172A094B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开发基线之外，补语义与用户验证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6779A-9F14-4E22-A7DA-C74A355D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37603A9E-AF69-46D7-9AF1-193C147A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CB53A9D-D1AD-40AB-8198-9A556AA9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51CF481-94E3-4B8D-80A8-02466945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D0742-774A-4A66-AD5E-5F4C525B1641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62500"/>
                <a:gridCol w="4114800"/>
              </a:tblGrid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继续验证的指标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人物归属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同名误归属率、人工确认负担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困难同名样本与纠错复测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事实与时间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字段准确率、召回率、时间线正确率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独立留出集，多次采样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检索与回答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漏召回、来源支持度、无据推论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冻结反例集与独立语义审阅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任务与数据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中断恢复成功率、重复写入率、恢复完整性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故障注入与跨机器恢复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42938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产品使用价值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准备耗时、承诺遗漏、草稿修改量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真实用户连续使用与访谈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9189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4D6C5E19-1EBE-4D69-901C-F4755AFC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09  演示与参考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4758D85-CB19-41B7-8E70-1B2F3676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建议演示顺序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292B787-9DC7-47E4-863E-AF9DACB2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使用虚构资料，按一条合作关系展示完整体验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2DD2B-CB0D-4D68-9A6A-4D2FE563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C3B28F3-45A7-4D4C-A4F9-58C8A437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40EA59E0-B651-436A-BA1D-C70D89C0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79AC479-021B-4B08-A821-8C5F3A99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47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5F7D9-0CE8-429C-9D7A-C386633EAA65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5334000"/>
                <a:gridCol w="4400550"/>
              </a:tblGrid>
              <a:tr h="55108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展示动作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55108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今日跟进与人物档案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原因、来源与人物背景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准备沟通，编辑并复制草稿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有来源简报，草稿不算联系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55108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确认实际结果、承诺和提醒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只记录真实发生的联系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分析结果，审阅记忆更新提案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原文、档案与建议日期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55108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查询记忆，打开引用并纠错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旧快照与当前记录分开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查看历史、任务并导出备份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处理留痕，演示数据可恢复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0283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514F7D96-7BE1-4975-98EF-D55D5FB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09  演示与参考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F98ADEE-2735-471F-AFA0-C622DBB8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C2924"/>
                </a:solidFill>
                <a:latin typeface="Hiragino Sans GB"/>
                <a:ea typeface="Hiragino Sans GB"/>
                <a:cs typeface="Hiragino Sans GB"/>
              </a:rPr>
              <a:t>资料与代码索引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60EAA74-4AFC-407A-B867-2465E06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关键结论可从仓库实现和公开资料继续核对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F523B-042B-4E50-AFB2-A61782A0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DF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6D36601-4697-4D41-B0FA-99522798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D6B50"/>
                </a:solidFill>
                <a:latin typeface="Hiragino Sans GB"/>
                <a:ea typeface="Hiragino Sans GB"/>
                <a:cs typeface="Hiragino Sans GB"/>
              </a:rPr>
              <a:t>home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A0760F2-9152-4A42-95FE-6975DA21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项目介绍  /  2026.10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7AAE013-DF0F-4F72-A910-4864527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19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48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AAFF3-5B99-44CD-AF6E-7602E2F53B7A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6064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T w="9525">
                      <a:solidFill>
                        <a:srgbClr val="DEE6DF"/>
                      </a:solidFill>
                      <a:prstDash val="solid"/>
                    </a:lnT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1D6B50"/>
                    </a:solidFill>
                  </a:tcPr>
                </a:tc>
              </a:tr>
              <a:tr h="6064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产品与运行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README.md，demo/README.md，scripts/restore_demo.py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记忆与检索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app/memory/，app/api/memories.py，migrations/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064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Agent 与后台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app/agent/，app/jobs/，app/api/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docs/ 验收报告，tests/，eval/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2F6F1"/>
                    </a:solidFill>
                  </a:tcPr>
                </a:tc>
              </a:tr>
              <a:tr h="606425"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产品参照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EE6DF"/>
                      </a:solidFill>
                      <a:prstDash val="solid"/>
                    </a:lnL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C292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Mars、Muse 与 Meta 公开资料（原核对 10-16）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EE6DF"/>
                      </a:solidFill>
                      <a:prstDash val="solid"/>
                    </a:lnR>
                    <a:lnB w="9525">
                      <a:solidFill>
                        <a:srgbClr val="DEE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B9AD65B-67B2-49E2-BB2D-D1531C8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4736A"/>
                </a:solidFill>
                <a:latin typeface="Hiragino Sans GB"/>
                <a:ea typeface="Hiragino Sans GB"/>
                <a:cs typeface="Hiragino Sans GB"/>
              </a:rPr>
              <a:t>版本 0.11.0；代码、演示快照与验收依据更新至 2026-10-19</a:t>
            </a:r>
          </a:p>
        </p:txBody>
      </p:sp>
    </p:spTree>
    <p:extLst>
      <p:ext uri="{BB962C8B-B14F-4D97-AF65-F5344CB8AC3E}">
        <p14:creationId xmlns:p14="http://schemas.microsoft.com/office/powerpoint/2010/main" val="1086864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2026-10-19T08:35:22.9590000Z</dcterms:created>
  <dcterms:modified xsi:type="dcterms:W3CDTF">2026-10-19T08:35:22.9590000Z</dcterms:modified>
</coreProperties>
</file>